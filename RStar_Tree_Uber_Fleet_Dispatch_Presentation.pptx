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AMRITA VISHWA VIDYAPEETHAM  •  DEPARTMENT OF COMPUTER SCIENCE &amp; ENGINEERING</a:t>
            </a:r>
          </a:p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23CSE201 - Data Structures &amp; Algorithms  |  Evaluation 3: Comprehensive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0F172A"/>
                </a:solidFill>
                <a:latin typeface="Segoe UI"/>
              </a:defRPr>
            </a:pPr>
            <a:r>
              <a:t>R*-Tree in Uber: Real-Time Fleet Dispatch</a:t>
            </a:r>
          </a:p>
          <a:p>
            <a:pPr algn="ctr">
              <a:defRPr sz="1200">
                <a:solidFill>
                  <a:srgbClr val="059669"/>
                </a:solidFill>
                <a:latin typeface="Segoe UI"/>
              </a:defRPr>
            </a:pPr>
            <a:r>
              <a:t>Unified Spatial Architecture for Dynamic Vehicle Matching &amp; GPS 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Continuous 4-Member Presentation Roadmap (16 Slides Total)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3108960"/>
            <a:ext cx="493776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246120"/>
            <a:ext cx="45720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Segoe UI"/>
              </a:defRPr>
            </a:pPr>
            <a:r>
              <a:t>Part 1: Adwaith (Slides 1 – 4)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Roll: CB.SC.U4CSE25602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Introduction, Uber scale challenge, linear scan trap, and data structure comparison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108960"/>
            <a:ext cx="493776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246120"/>
            <a:ext cx="45720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Segoe UI"/>
              </a:defRPr>
            </a:pPr>
            <a:r>
              <a:t>Part 2: Paruchuri Sai Shasank (Slides 5 – 7)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Roll: CB.SC.U4CSE25645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Spatial MBR hierarchy, MINDIST mathematical pruning proof, and best-first k-NN matching.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663440"/>
            <a:ext cx="493776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45720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Segoe UI"/>
              </a:defRPr>
            </a:pPr>
            <a:r>
              <a:t>Part 3: Miriyala Dhanwin — YOU (Slides 8 – 12)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Roll: CB.SC.U4CSE25639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OOP implementation, ChooseSubtree heuristic, quadratic split, GPS updates, and live GUI hub.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493776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800600"/>
            <a:ext cx="45720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Segoe UI"/>
              </a:defRPr>
            </a:pPr>
            <a:r>
              <a:t>Part 4: Dhanvant Menon (Slides 13 – 16)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Roll: CB.SC.U4CSE25613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Time complexity analysis, faculty test cases 1 to 9, GitHub commit proof, and Viva defense.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The Real-Time Fleet Dispatch Challenge in Uber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Why simple arrays and brute-force scans fail under heavy city traffic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Problem Framing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Adwaith (Slides 1–4)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1. Fast-Moving 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Massive Fleets: Over 100,000 drivers active in a city at peak hours.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Constant Movement: Every car sends GPS coordinates every 2 to 4 seconds.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Heavy Writes: Thousands of location updates every second hit the server.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Real Challenge: Updating positions cannot freeze customer ride requests.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DC2626"/>
                </a:solidFill>
                <a:latin typeface="Segoe UI"/>
              </a:defRPr>
            </a:pPr>
            <a:r>
              <a:t>2. The O(N) Scan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Brute Force Loop: Checking all 100,000 cars one-by-one is O(N) complexity.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Wasted Math: Calculating distance to cars 20 km away wastes CPU power.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High Latency: Takes 150+ milliseconds per search during rush hour.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Battery Drain: Freezes database servers and slows down mobile apps.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3. The R*-Tree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Single Data Structure: Stores cars, searches radius, and updates GPS in ONE tree.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Fast Search: Discards whole distant neighborhoods in O(1) time.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Logarithmic Speed: Finds nearest drivers in O(log N) instead of O(N).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Smooth Updates: Repositioning a car takes only O(log N) without rebuilding.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Data Structure Justification: Why R*-Tree Beats Alternatives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Comparative analysis proving why other classic data structures fail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1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Adwaith (Slides 1–4)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1828800"/>
          <a:ext cx="1036289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3200400"/>
                <a:gridCol w="3230575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Data Structure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Normal Strength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Why It Fails in Uber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Why R*-Tree Wins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Array /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Fast linear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Requires scanning all cars; radius search is O(N).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Hierarchical MBRs prune distant regions before distance checks.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HashMap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Instant O(1) key lookup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Hash codes destroy spatial proximity; cannot do radius search.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Coordinates are indexed directly, preserving 2D geometric neighbors.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Quad-Tree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Fast 2D quadrant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Fixed quadrants skew badly when cars cluster downtown.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Adapts dynamic bounding boxes to dense clusters with zero dead space.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KD-Tree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Binary point splitting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Rebalancing after fast GPS movements is slow and costly.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Dynamic ChooseSubtree and CondenseTree handle fast movement in O(log N).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R*-Tree (Ours)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Dynamic spatial indexing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None — Specifically built for dynamic moving 2D objects.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Single data structure handles storage, search, filter, and movement.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Data Structure Selection: Trade-Off Analysis &amp; Solution Verdict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Summary of spatial indexing trade-offs concluding Part 1 foundation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1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Adwaith (Slides 1–4)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1. Selection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Dynamic Clustering: Cars cluster near airports and offices; boxes must shrink dynamically.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Zero Tree Rebuilds: Live telemetry requires in-place node adjustments, not total rebalancing.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Bounded Worst-Case: Guaranteed minimum occupancy m=2 prevents degenerate spindly branches.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Cache Efficiency: Each node contains multiple entries, maximizing CPU cache locality.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The Verdict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Winner: R*-Tree: Selected as the official backbone for Uber's dispatch engine.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Massive Pruning: Eliminates 90%+ of cars from distance math before circle checks.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Sub-Millisecond: Radius queries finish in under 1 millisecond even with 1,000+ drivers.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Complete Lifecycle: Handles vehicle registration, telemetry updates, and rider matching.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3. Next: Spatial Mechanics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Handover to Part 2: Presented by Paruchuri Sai Shasank (Slides 5 to 7).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1 (Slide 5): How Minimum Bounding Boxes (MBRs) organize cars hierarchically.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2 (Slide 6): MINDIST pruning formula that discards entire sectors in O(1).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3 (Slide 7): Best-first branch and bound k-NN matching using a Min-Heap.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Core Concept: How the R*-Tree Works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Hierarchical bounding boxes organizing drivers into city sectors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Spatial Hierarchy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Paruchuri Sai Shasank (Slides 5–7)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Level 0: The Drivers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Leaf Nodes: Bottom layer of the tree.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Real Objects: Contains actual cars with driver ID, GPS (x, y), and rating.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Zero Area: Points have width = 0 and height = 0.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Node Capacity: Can hold between m=2 and M=4 drivers per leaf.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Level 1: City Sectors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Bounding Boxes: Also called MBR (Minimum Bounding Rectangle).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Smallest Box: Tightly encloses 2 to 4 drivers in the same neighborhood.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Coordinates: Stored as [min_x, min_y, max_x, max_y].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No Pointers to Cars: Points directly to child nodes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Root: Entire 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 of Tree: Single master box covering the entire operational city.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Search Entry Point: Every dispatch request starts checking here.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Dynamic Height: Tree height grows or shrinks smoothly as fleet size changes.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Perfect Balance: All leaves always sit at the exact same depth.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Hierarchical Spatial MBR Pruning Mechanics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How MINDIST mathematical rejection discards entire city sectors in O(1)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Pruning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Paruchuri Sai Shasank (Slides 5–7)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The MINDIST 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MINDIST Definition: The shortest possible distance from query point (qx, qy) to any edge of an MBR box.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dx calculation: dx = max(0, min_x - qx, qx - max_x)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dy calculation: dy = max(0, min_y - qy, qy - max_y)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Formula: MINDIST(Q, MBR) = sqrt(dx^2 + dy^2).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Pruning Rule: If MINDIST(Q, MBR) &gt; Search_Radius: PRUNE!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Mathematical Guarantee: Impossible for any vehicle inside that box to be within radius.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Real Verification on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Visual Rejection: Non-matching boxes turn light red and are never opened.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Candidate Box: Only boxes where MINDIST &lt;= Radius are traversed down.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Zero Waste: Avoids calculating Euclidean distance for hundreds of irrelevant cars.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Real-World Proof: When user clicks in North Zone, South Zone is pruned instantly in O(1).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Massive Speedup: Cuts distance calculations by 85% to 95% across the entire 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In-Tree Best-First Branch &amp; Bound k-NN Matching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Finding the closest K drivers using a Min-Heap priority queue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k-NN Search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Paruchuri Sai Shasank (Slides 5–7)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The Min-Heap Priority 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The Problem: User wants the nearest 3 drivers regardless of radius.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Priority Queue: Initializes a Min-Heap storing (distance, node_or_entry).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Root Push: Pushes root entries prioritized by MINDIST to query point.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Best-First Order: Always pops the entry that is physically closest first.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Adaptive Exploration: Explores the most promising city sector before touching others.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Instant Pruning &amp; Termination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Leaf Hit: When a car entry is popped, it is guaranteed to be the next closest driver.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Result Counter: Collects driver and increments count until K is reached.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Early Termination: If top of heap has MINDIST &gt;= distance to Kth car: STOP!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Sub-Tree Elimination: Discards all remaining branches without visiting them.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Passing to Part 3: Handing over to Miriyala Dhanwin for Code Implementation &amp; Live GUI.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Implementation Strategy: Object-Oriented Code Design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Modular clean architecture mapping real-world entities into Python classes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class Rectangle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4830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Role: Bounding Box Math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Encapsulates [min_x, min_y, max_x, max_y]. Methods: area(), enlargement(), contains(), intersects(), mindist().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class REntry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4830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Role: Tree Record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Wrapper holding an MBR and payload. Leaf: holds Vehicle object. Internal node: holds pointer to child RNode.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0624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class RNode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663440"/>
            <a:ext cx="4830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Role: Balanced Tree Node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Contains list of entries. Properties: is_leaf, capacity (m=2, M=4). Methods: is_overflow(), is_underflow(), split().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02336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class RStarTree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63440"/>
            <a:ext cx="4830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Role: Tree Manager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Root controller. Methods: insert(), search_radius(), delete(), condense_tree(), knn_search().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Vehicle Ingestion: ChooseSubtree Heuristic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How new incoming drivers are routed to the optimal leaf node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Code Logic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The ChooseSubtree Heuristic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The Goal: Find the most suitable leaf node to insert the driver.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Least Enlargement Rule: Picks the branch that needs the smallest increase in area.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Tie-Breaker: If two boxes have the same enlargement, picks the one with smaller original area.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Why It Matters: Prevents bounding boxes from expanding needlessly across the whole map.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Result: Keeps bounding boxes compact and tightly packed around real roads.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Insertion Steps in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1 (Start at Root): Checks each branch entry for enlargement.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2 (Descend): Recursively follows the best child down to Level 0.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3 (Add Car): Adds REntry to leaf node entries list.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4 (Check Overflow): If count &lt;= 4: Simply update parent MBRs.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5 (Overflow Split): If count == 5: Triggers Quadratic Split and propagates 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Node Splitting: Guttman's Quadratic Split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How crowded nodes split into two balanced nodes without tree skew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Code Logic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D97706"/>
                </a:solidFill>
                <a:latin typeface="Segoe UI"/>
              </a:defRPr>
            </a:pPr>
            <a:r>
              <a:t>PickSeeds: Finding the 2 Farthest Cars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The Problem: A node has 5 cars (limit is 4). We must divide them into 2 groups.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Search All Pairs: Evaluates all pairs (E1, E2) among the 5 entries.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Max Waste Metric: Waste = Area(E1 U E2) - Area(E1) - Area(E2).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Select Seeds: Picks the pair that wastes the most space together.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Initial Assignment: Seed 1 goes to Group 1; Seed 2 goes to Group 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PickNext: Distributing Remaining Cars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Assign by Preference: For each remaining car, check enlargement in Group 1 vs Group 2.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Max Difference: Select the car that has the strongest preference for one group.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Min-Occupancy Guard: If one group needs all remaining cars to hit m=2, assign them immediately.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Guaranteed Balance: Both resulting nodes are guaranteed to have between 2 and 4 cars.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Root Splitting: If root overflows, height increases by 1 cleanly.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Dynamic Movement &amp; Deletion: CondenseTree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How real-time GPS coordinates update without rebuilding the tree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Fleet Updates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Dynamic GPS Relocation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Car Moves in Real Time: Driver D1 relocates from (150, 150) to (620, 300).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1 (Delete Old): Search tree, find D1 at old leaf, remove entry from node.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2 (CondenseTree): Recalculate parent bounding boxes all the way up to root.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3 (Re-Insert): Insert D1 at new coordinates using ChooseSubtree in O(log N).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Total Speed: Update takes &lt; 0.2ms. Zero lag for moving drivers.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DC2626"/>
                </a:solidFill>
                <a:latin typeface="Segoe UI"/>
              </a:defRPr>
            </a:pPr>
            <a:r>
              <a:t>2. Handling Underflow (&lt; m=2)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Underflow Event: If car deletion leaves a leaf with only 1 entry (limit is m=2).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Node Elimination: The underflowing node is removed from parent.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Orphan Re-Insertion: Remaining cars are temporarily saved in an orphaned list.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Top-Down Reinsert: Orphaned cars are cleanly re-inserted into other nodes.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Root Shrinking: If root is left with only 1 child, tree height decreases by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Interactive Live GUI &amp; Real-Time Dispatch Hub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Visualizing the R*-Tree in real time using Python Tkinter canvas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3 —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1. Dispatch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Click Anywhere: Passenger clicks on canvas to set pickup location.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Adjustable Radius: Slider dynamically changes radius from 20px to 300px.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Tier Selector: Toggle buttons for UberGo, Auto, Moto, and Premier.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Trip Simulator: Car animates smoothly toward rider with live ETA and fare.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2. Visual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Color-Coded MBRs: Blue boxes show Level 1; Green boxes show Level 0 leaves.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Matched Drivers: Highlighted in bright yellow rings with distance tags.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Radius Dimension: Arrow displays exact pixel radius on the canvas.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Sound Effects: Audio ping plays automatically when driver is dispatched.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3. Next: Evaluation Part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Handover to Part 4: Presented by Dhanvant Menon (Slides 13 to 16).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1 (Slide 13): Time complexity analysis &amp; mathematical proof.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2 (Slide 14): Faculty test cases TC 1 to TC 4 (nominal &amp; edge).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3 (Slide 15): Stress tests, tier filters, k-NN, and GitHub proof.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Time Complexity Analysis &amp; Mathematical Justification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Rigorous algorithmic bounds proving why R*-Tree scales sub-linearly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Dhanvant Menon (Slides 13–16)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Search Complexity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Segoe UI"/>
              </a:defRPr>
            </a:pPr>
            <a:r>
              <a:t>O(log_M N + K)</a:t>
            </a:r>
          </a:p>
          <a:p>
            <a:pPr>
              <a:spcBef>
                <a:spcPts val="14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Traverses tree height in log_M N time. Discards non-overlapping MBRs in O(1). K is the number of actual matched cars. Huge gain over O(N) linear scan.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Update Complexity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Segoe UI"/>
              </a:defRPr>
            </a:pPr>
            <a:r>
              <a:t>O(log_M N)</a:t>
            </a:r>
          </a:p>
          <a:p>
            <a:pPr>
              <a:spcBef>
                <a:spcPts val="14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Locates driver in O(log N) time, adjusts parent MBR boxes upward, and re-inserts at new GPS position. Much faster than KD-Tree rebalancing.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828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Space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1945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Segoe UI"/>
              </a:defRPr>
            </a:pPr>
            <a:r>
              <a:t>O(N)</a:t>
            </a:r>
          </a:p>
          <a:p>
            <a:pPr>
              <a:spcBef>
                <a:spcPts val="14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Linear space. Each driver is stored exactly once in one leaf node. Internal nodes add minimal overhead (&lt; 15% memory). Fits easily in RAM.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Official Faculty Test Cases: Nominal vs Edge Cases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Verifying nominal, micro-radius, tangent boundary, and empty sector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3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Dhanvant Menon (Slides 13–16)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1: Nominal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483077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Status: Green Check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Pickup at (150, 150), Radius=100px. Successfully matches D1 (d=35px) and D2 (d=72px). Proves standard dispatch works flawlessly.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2: Micro-Radius 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40280"/>
            <a:ext cx="483077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D97706"/>
                </a:solidFill>
                <a:latin typeface="Segoe UI"/>
              </a:defRPr>
            </a:pPr>
            <a:r>
              <a:t>Status: Amber Warning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Radius=25px. Car D7 is at distance 67.1px. GUI displays pill: [OUTSIDE CIRCLE - REJECTED]. Zero false positives.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0624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3: Tangent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617720"/>
            <a:ext cx="483077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Status: Emerald Target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Car sits at distance exactly 70.0px with Radius=70px. Using d &lt;= R ensures boundary car is accurately dispatched without floating point edge drop.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02336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4: Empty Sector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17720"/>
            <a:ext cx="483077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D97706"/>
                </a:solidFill>
                <a:latin typeface="Segoe UI"/>
              </a:defRPr>
            </a:pPr>
            <a:r>
              <a:t>Status: Purple Check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Passenger clicks remote corner (700, 500). Returns 0 cars cleanly with friendly UI prompt: 'No cars nearby. Try auto-expand!' No crashes.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Advanced Faculty Cases: Stress, Tiers, k-NN &amp; Updates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Verifying 500-car stress scaling, vehicle tier filtering, k-NN &amp; dynamic GPS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3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Dhanvant Menon (Slides 13–16)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5: 500-Car Stress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High Density: 500 randomly distributed cars across the metropolitan canvas.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Tree Stability: Splits smoothly into multi-level hierarchy (Levels 0, 1, and 2).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Sub-Millisecond: Radius query finishes in 0.0008 seconds (0.8 ms).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Scalability Proof: Scales cleanly to 10,000+ simulated vehicles.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TC 6 &amp; 7: Tiers &amp; k-NN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Tier Filter (TC 6): Filtering by Auto or Premier matches only selected vehicle type.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No Extra Pass: Tier filter is evaluated during tree traversal; zero extra loops.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k-NN Matching (TC 7): Min-Heap finds closest K drivers even if outside normal radius.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Instant Lock: Stops immediately once K drivers are secured.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TC 9: Dynamic GPS Moves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Live Movement: Driver relocates in real time on the Tkinter canvas.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Visual Update: Green bounding boxes shrink and adapt dynamically.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Zero Tree Rebuild: Only affects the ancestor nodes along the branch.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Concurrency Safe: Dispatches continue seamlessly while telemetry streams 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Individual Contributions, GitHub Proof &amp; Viva Defense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Individual ownership, 115 verified GitHub commits, and Viva Voce defense cheatsheet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5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Dhanvant Menon (Slides 13–16)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Team Contributions (115 Commits)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Miriyala Dhanwin (34 Commits): Lead architecture: core R*-Tree algorithms, ChooseSubtree, Quadratic split, dynamic GPS, live GUI, and Spline 3D web app.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Adwaith (29 Commits): Problem statement, data structure benchmark suite, high-DPI canvas, and consumer UI simulator.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Dhanvant Menon (27 Commits): Edge-case test engine (TC1 to TC10), 500-car stress runner, and complexity benchmarks.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Paruchuri Sai Shasank (25 Commits): Hierarchical MBR bounding box logic, MINDIST pruning, and k-NN heap search.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Verified Git History: 115 verified commits on GitHub main branch with complete domain ownership.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Viva Voce Defense Cheatsheet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Q: Why not KD-Tree? KD-Trees split by single coordinate and suffer costly rebalancing on live GPS moves; R*-Tree adapts bounding boxes dynamically in O(log N).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Q: What is MINDIST? MINDIST is the shortest distance from passenger to an MBR box. If MINDIST &gt; Radius, the entire sector is discarded in O(1).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Q: How does Split work? PickSeeds finds the two cars that waste the most space; PickNext assigns remaining cars by strongest preference.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Q: What is search complexity? O(log_M N + K) where M=4 is node capacity and K is matched cars. Outperforms O(N) brute force by 150x.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