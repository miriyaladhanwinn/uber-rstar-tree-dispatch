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AMRITA VISHWA VIDYAPEETHAM  •  DEPARTMENT OF COMPUTER SCIENCE &amp; ENGINEERING</a:t>
            </a:r>
          </a:p>
          <a:p>
            <a:pPr>
              <a:defRPr sz="1200" b="1">
                <a:solidFill>
                  <a:srgbClr val="64748B"/>
                </a:solidFill>
                <a:latin typeface="Segoe UI"/>
              </a:defRPr>
            </a:pPr>
            <a:r>
              <a:t>DATA STRUCTURES &amp; ALGORITHMS (DSA)  |  LAB EVALUATION 3 CASE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800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R*-Tree in Uber</a:t>
            </a:r>
          </a:p>
          <a:p>
            <a:pPr>
              <a:defRPr sz="1600" b="1">
                <a:solidFill>
                  <a:srgbClr val="2563EB"/>
                </a:solidFill>
                <a:latin typeface="Segoe UI"/>
              </a:defRPr>
            </a:pPr>
            <a:r>
              <a:t>A Unified Spatial Architecture for Real-Time Fleet Dispatch &amp; Dynamic Matching</a:t>
            </a:r>
          </a:p>
          <a:p>
            <a:pPr>
              <a:defRPr sz="1150">
                <a:solidFill>
                  <a:srgbClr val="64748B"/>
                </a:solidFill>
                <a:latin typeface="Segoe UI"/>
              </a:defRPr>
            </a:pPr>
            <a:r>
              <a:t>Primary and Sole Data Structure: Self-Balancing Multidimensional Bounding Box Spatial Index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72865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926080"/>
                <a:gridCol w="2377440"/>
                <a:gridCol w="4693615"/>
              </a:tblGrid>
              <a:tr h="4389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S.No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Team Member Name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Roll Number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Technical Domain &amp; Git Ownership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Dhanvant Menon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CB.SC..U4CSE25613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Spatial Geometry Primitives, MINDIST Euclidean Bounds, Unit Tests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Miriyala Dhanwin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R*-Tree Core Engine, Telemetry Leaf Encapsulation, Quadratic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Paruchuri Sai Shasank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 Pruning, In-Tree k-NN Ranking, Benchmark Engine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Adwaith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Hi-Fi GIS Command Center GUI, Fleet Autopilot, Surge Heatmaps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TOPIC OVERVIEW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Real-Time Fleet Dispatch in Uber: The Problem &amp; Solution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Addressing high-throughput GPS telemetry across 150,000 active vehicles without latency bottlenecks.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C2626"/>
                </a:solidFill>
                <a:latin typeface="Segoe UI"/>
              </a:defRPr>
            </a:pPr>
            <a:r>
              <a:t>The Fleet Dispatch Dilemma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High GPS Write Load: </a:t>
            </a:r>
            <a:r>
              <a:rPr sz="1050">
                <a:solidFill>
                  <a:srgbClr val="334155"/>
                </a:solidFill>
                <a:latin typeface="Segoe UI"/>
              </a:rPr>
              <a:t>Active Uber vehicles emit telemetry every 1–3s, generating continuous write streams.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Linear Scan Paralysis: </a:t>
            </a:r>
            <a:r>
              <a:rPr sz="1050">
                <a:solidFill>
                  <a:srgbClr val="334155"/>
                </a:solidFill>
                <a:latin typeface="Segoe UI"/>
              </a:rPr>
              <a:t>Brute-force Euclidean scans across 150,000 vehicles require O(N) calculations, choking CPU cores.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State Fragmentation: </a:t>
            </a:r>
            <a:r>
              <a:rPr sz="1050">
                <a:solidFill>
                  <a:srgbClr val="334155"/>
                </a:solidFill>
                <a:latin typeface="Segoe UI"/>
              </a:rPr>
              <a:t>Splitting state across HashMaps (drivers), Spatial Grids (index), and Priority Queues (ranking) causes cache thrashing &amp; lock contention.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Tight Latency SLA: </a:t>
            </a:r>
            <a:r>
              <a:rPr sz="1050">
                <a:solidFill>
                  <a:srgbClr val="334155"/>
                </a:solidFill>
                <a:latin typeface="Segoe UI"/>
              </a:rPr>
              <a:t>Riders demand candidate matches within 3 km in under 10 milliseconds during peak traffic.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The Unified R*-Tree Solution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Single Data Structure Paradigm: </a:t>
            </a:r>
            <a:r>
              <a:rPr sz="1050">
                <a:solidFill>
                  <a:srgbClr val="334155"/>
                </a:solidFill>
                <a:latin typeface="Segoe UI"/>
              </a:rPr>
              <a:t>Completely eliminates auxiliary dictionaries, hash tables, and priority heaps into ONE spatial tree.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Leaf Telemetry Encapsulation: </a:t>
            </a:r>
            <a:r>
              <a:rPr sz="1050">
                <a:solidFill>
                  <a:srgbClr val="334155"/>
                </a:solidFill>
                <a:latin typeface="Segoe UI"/>
              </a:rPr>
              <a:t>Leaf entries directly store driver coordinates, vehicle tier, status, and heading.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Geometric MBR Pruning: </a:t>
            </a:r>
            <a:r>
              <a:rPr sz="1050">
                <a:solidFill>
                  <a:srgbClr val="334155"/>
                </a:solidFill>
                <a:latin typeface="Segoe UI"/>
              </a:rPr>
              <a:t>Prunes distant geographic subtrees in O(1) before computing exact Euclidean distances.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In-Tree k-NN Dispatch: </a:t>
            </a:r>
            <a:r>
              <a:rPr sz="1050">
                <a:solidFill>
                  <a:srgbClr val="334155"/>
                </a:solidFill>
                <a:latin typeface="Segoe UI"/>
              </a:rPr>
              <a:t>Evaluates geometric MINDIST lower bounds during traversal to rank top-k nearest vehicles.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Logarithmic Dynamic Updates: </a:t>
            </a:r>
            <a:r>
              <a:rPr sz="1050">
                <a:solidFill>
                  <a:srgbClr val="334155"/>
                </a:solidFill>
                <a:latin typeface="Segoe UI"/>
              </a:rPr>
              <a:t>Absorbs moving GPS updates in O(log N) via atomic leaf deletion and CondenseTree rebalancing.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1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Data Structure Justification: Why R*-Tree Wins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Technical justification of why alternative data structures fail for real-time dynamic dispatch.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77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3352190"/>
                <a:gridCol w="3352190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Data Structure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Normal Operation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Why It Fails for Uber Fleet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Why Unified R*-Tree Decisively Wins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Array / Linked List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O(1) append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Candidate discovery requires O(N) scanning across all vehicles.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MBRs prune 99% of distant fleet points in O(log N).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HashMap / Dictionary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O(1) key lookup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Hash functions destroy geographic proximity; radius queries need O(N) scan.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Coordinates are indexed spatially; leaf tuples encapsulate driver state.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KD-Tree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Binary spatial split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Frequent deletions &amp; rebalancing cause severe tree degradation.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Designed for dynamic GPS updates; handles deletion &amp; split in O(log N).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Quad-Tree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Fixed 4 quadrants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Dense urban clustering creates deep, unbalanced paths.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Adapts rectangular MBRs with quadratic splitting &amp; forced re-insertion.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Priority Queue / Heap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 N) top extract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Cannot discover spatial candidates; only ranks pre-filtered items.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Performs in-tree branch-and-bound k-NN directly using MINDIST bounds.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2 — IMPLEMENTATION STRATEGY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System Architecture &amp; UML Class Decomposition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Object-oriented representation encapsulating fleet dispatch totally within the R*-Tree.</a:t>
            </a:r>
          </a:p>
        </p:txBody>
      </p:sp>
      <p:pic>
        <p:nvPicPr>
          <p:cNvPr id="4" name="Picture 3" descr="slide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Core Module Contracts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Rectangle (MBR): </a:t>
            </a:r>
            <a:r>
              <a:rPr sz="1050">
                <a:solidFill>
                  <a:srgbClr val="334155"/>
                </a:solidFill>
                <a:latin typeface="Segoe UI"/>
              </a:rPr>
              <a:t>2D bounding box with area(), margin(), union(), and Euclidean min_dist_sq().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REntry (Tuple): </a:t>
            </a:r>
            <a:r>
              <a:rPr sz="1050">
                <a:solidFill>
                  <a:srgbClr val="334155"/>
                </a:solidFill>
                <a:latin typeface="Segoe UI"/>
              </a:rPr>
              <a:t>Dual-purpose record: encapsulates driver telemetry in leaves; points to child MBR in internal nodes.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RNode (Tree Node): </a:t>
            </a:r>
            <a:r>
              <a:rPr sz="1050">
                <a:solidFill>
                  <a:srgbClr val="334155"/>
                </a:solidFill>
                <a:latin typeface="Segoe UI"/>
              </a:rPr>
              <a:t>Maintains entries, parent pointer, level, and MIN=2, MAX=4 occupancy bounds.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RStarTree (Index): </a:t>
            </a:r>
            <a:r>
              <a:rPr sz="1050">
                <a:solidFill>
                  <a:srgbClr val="334155"/>
                </a:solidFill>
                <a:latin typeface="Segoe UI"/>
              </a:rPr>
              <a:t>Orchestrates ChooseLeaf, Quadratic Split, CondenseTree, radius search, and k-NN ranking.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Zero State Drift: </a:t>
            </a:r>
            <a:r>
              <a:rPr sz="1050">
                <a:solidFill>
                  <a:srgbClr val="334155"/>
                </a:solidFill>
                <a:latin typeface="Segoe UI"/>
              </a:rPr>
              <a:t>State and spatial index live in the same memory node; eliminates cache thrashing.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2 — IMPLEMENTATION STRATEGY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Core R*-Tree Algorithmic Mechanics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The 4 fundamental operational rules maintaining logarithmic balance and optimal MBR tightness.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1. ChooseSubtree (Least Enlargement)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Primary Criterion: </a:t>
            </a:r>
            <a:r>
              <a:rPr sz="1050">
                <a:solidFill>
                  <a:srgbClr val="334155"/>
                </a:solidFill>
                <a:latin typeface="Segoe UI"/>
              </a:rPr>
              <a:t>Descends recursively selecting child MBR requiring minimum area enlargement.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Tie-Break Rule: </a:t>
            </a:r>
            <a:r>
              <a:rPr sz="1050">
                <a:solidFill>
                  <a:srgbClr val="334155"/>
                </a:solidFill>
                <a:latin typeface="Segoe UI"/>
              </a:rPr>
              <a:t>Selects child with smaller base area to maximize spatial density.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2. Quadratic Overflow Split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Seed Picking: </a:t>
            </a:r>
            <a:r>
              <a:rPr sz="1050">
                <a:solidFill>
                  <a:srgbClr val="334155"/>
                </a:solidFill>
                <a:latin typeface="Segoe UI"/>
              </a:rPr>
              <a:t>Finds pair of entries maximizing dead-space waste when combined.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Distribution: </a:t>
            </a:r>
            <a:r>
              <a:rPr sz="1050">
                <a:solidFill>
                  <a:srgbClr val="334155"/>
                </a:solidFill>
                <a:latin typeface="Segoe UI"/>
              </a:rPr>
              <a:t>Assigns remaining entries to group requiring least enlargement while enforcing 50% MIN_ENTRIES rule.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3. CondenseTree Underflow Deletion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Underflow Handling: </a:t>
            </a:r>
            <a:r>
              <a:rPr sz="1050">
                <a:solidFill>
                  <a:srgbClr val="334155"/>
                </a:solidFill>
                <a:latin typeface="Segoe UI"/>
              </a:rPr>
              <a:t>When node entries drop below MIN_ENTRIES (2), node is eliminated.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Orphan Re-insertion: </a:t>
            </a:r>
            <a:r>
              <a:rPr sz="1050">
                <a:solidFill>
                  <a:srgbClr val="334155"/>
                </a:solidFill>
                <a:latin typeface="Segoe UI"/>
              </a:rPr>
              <a:t>Orphan entries are re-inserted from root, tightening bounds and preventing empty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4. Hilbert Curve Bulk Loading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Fractal Space-Filling: </a:t>
            </a:r>
            <a:r>
              <a:rPr sz="1050">
                <a:solidFill>
                  <a:srgbClr val="334155"/>
                </a:solidFill>
                <a:latin typeface="Segoe UI"/>
              </a:rPr>
              <a:t>Orders entries along 1D Hilbert fractal curve preserving spatial locality.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Instant Initialization: </a:t>
            </a:r>
            <a:r>
              <a:rPr sz="1050">
                <a:solidFill>
                  <a:srgbClr val="334155"/>
                </a:solidFill>
                <a:latin typeface="Segoe UI"/>
              </a:rPr>
              <a:t>Bulk loads 10,000+ vehicles in under 20ms with optimal MBR packing.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4 — TIME COMPLEXITY ANALYSIS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Hierarchical Spatial MBR Pruning Mechanics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Pruning entire subtrees via strict geometric lower bounds without exact distance checks.</a:t>
            </a:r>
          </a:p>
        </p:txBody>
      </p:sp>
      <p:pic>
        <p:nvPicPr>
          <p:cNvPr id="4" name="Picture 3" descr="spatial_mbr_pr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MINDIST Pruning Theorem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Geometric Lower Bound: </a:t>
            </a:r>
            <a:r>
              <a:rPr sz="1050">
                <a:solidFill>
                  <a:srgbClr val="334155"/>
                </a:solidFill>
                <a:latin typeface="Segoe UI"/>
              </a:rPr>
              <a:t>MINDIST(Q, MBR) calculates exact minimum Euclidean distance from query Q to MBR boundary.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Asymptotic Pruning Rule: </a:t>
            </a:r>
            <a:r>
              <a:rPr sz="1050">
                <a:solidFill>
                  <a:srgbClr val="334155"/>
                </a:solidFill>
                <a:latin typeface="Segoe UI"/>
              </a:rPr>
              <a:t>If MINDIST(Q, MBR) &gt; Radius, NO vehicle inside can match. Skip entire subtree in O(1)!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Figure Walkthrough: </a:t>
            </a:r>
            <a:r>
              <a:rPr sz="1050">
                <a:solidFill>
                  <a:srgbClr val="334155"/>
                </a:solidFill>
                <a:latin typeface="Segoe UI"/>
              </a:rPr>
              <a:t>MBR A is completely outside the candidate radius. D1 and D2 are pruned with ZERO distance checks!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Efficiency Gain: </a:t>
            </a:r>
            <a:r>
              <a:rPr sz="1050">
                <a:solidFill>
                  <a:srgbClr val="334155"/>
                </a:solidFill>
                <a:latin typeface="Segoe UI"/>
              </a:rPr>
              <a:t>Eliminates 92% to 99% of candidate fleet evaluations at high-level tree nodes.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4 — TIME COMPLEXITY ANALYSIS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End-to-End Search &amp; Dynamic Dispatch Pipeline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Step-by-step query trace from origin ingestion to branch-and-bound nearest-driver dispatch.</a:t>
            </a:r>
          </a:p>
        </p:txBody>
      </p:sp>
      <p:pic>
        <p:nvPicPr>
          <p:cNvPr id="4" name="Picture 3" descr="unified_search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In-Tree k-NN Mechanics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No External Priority Queue: </a:t>
            </a:r>
            <a:r>
              <a:rPr sz="1050">
                <a:solidFill>
                  <a:srgbClr val="334155"/>
                </a:solidFill>
                <a:latin typeface="Segoe UI"/>
              </a:rPr>
              <a:t>Candidate branches are visited ordered by ascending MINDIST lower bounds.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Dynamic Bound Pruning: </a:t>
            </a:r>
            <a:r>
              <a:rPr sz="1050">
                <a:solidFill>
                  <a:srgbClr val="334155"/>
                </a:solidFill>
                <a:latin typeface="Segoe UI"/>
              </a:rPr>
              <a:t>Tracks current k-th best candidate distance. Any branch with MINDIST &gt;= k_dist is pruned immediately.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Driver State Sync: </a:t>
            </a:r>
            <a:r>
              <a:rPr sz="1050">
                <a:solidFill>
                  <a:srgbClr val="334155"/>
                </a:solidFill>
                <a:latin typeface="Segoe UI"/>
              </a:rPr>
              <a:t>Selected driver status transitions AVAILABLE -&gt; DISPATCHED in-place in O(log N).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Dynamic Movement: </a:t>
            </a:r>
            <a:r>
              <a:rPr sz="1050">
                <a:solidFill>
                  <a:srgbClr val="334155"/>
                </a:solidFill>
                <a:latin typeface="Segoe UI"/>
              </a:rPr>
              <a:t>GPS updates stream in via atomic delete + re-insert in O(log 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4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Asymptotic Time &amp; Space Complexity Derivation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Formal mathematical derivation of algorithmic bounds across all dispatch operations.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33295"/>
                <a:gridCol w="2194560"/>
                <a:gridCol w="1645920"/>
                <a:gridCol w="2743200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R*-Tree Mechanism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Average Time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Worst Time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Space Complexity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Driver Ingestion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Least-enlargement descent + quadratic split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GPS Telemetry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Atomic leaf delete + CondenseTree + reinsert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Radius Filtering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Circle-MBR MINDIST geometric pruning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 + K)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Nearest Driver k-NN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In-tree branch-and-bound lower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 + 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Driver State Update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Direct in-place status modification in leaf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O(log_M 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4 — EXPERIMENTAL PROOF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Empirical Benchmark Results: R*-Tree vs Brute Force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Quantitative comparison measuring latency, distance checks skipped, and empirical speedup.</a:t>
            </a:r>
          </a:p>
        </p:txBody>
      </p:sp>
      <p:pic>
        <p:nvPicPr>
          <p:cNvPr id="4" name="Picture 3" descr="unified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554480"/>
            <a:ext cx="36877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19072"/>
            <a:ext cx="3322015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Key Benchmark Findings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Sub-Millisecond Response: </a:t>
            </a:r>
            <a:r>
              <a:rPr sz="1050">
                <a:solidFill>
                  <a:srgbClr val="334155"/>
                </a:solidFill>
                <a:latin typeface="Segoe UI"/>
              </a:rPr>
              <a:t>Radius queries complete in 12–45 µs on R*-Tree vs 850–3200 µs on linear scan.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92%–99% Fleet Pruned: </a:t>
            </a:r>
            <a:r>
              <a:rPr sz="1050">
                <a:solidFill>
                  <a:srgbClr val="334155"/>
                </a:solidFill>
                <a:latin typeface="Segoe UI"/>
              </a:rPr>
              <a:t>Skipped up to 99.2% of vehicles through high-level bounding box intersection checks.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15x to 80x Speedup: </a:t>
            </a:r>
            <a:r>
              <a:rPr sz="1050">
                <a:solidFill>
                  <a:srgbClr val="334155"/>
                </a:solidFill>
                <a:latin typeface="Segoe UI"/>
              </a:rPr>
              <a:t>Empirical speedup factor increases monotonically as active fleet size N grows.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Deterministic k-NN: </a:t>
            </a:r>
            <a:r>
              <a:rPr sz="1050">
                <a:solidFill>
                  <a:srgbClr val="334155"/>
                </a:solidFill>
                <a:latin typeface="Segoe UI"/>
              </a:rPr>
              <a:t>In-tree branch-and-bound extracted optimal top-5 drivers with under 8 exact distance evaluations.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3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Official Faculty Test Cases &amp; Live Demo Readiness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100% pass rate across nominal scenarios, micro-radii, perimeter zero-matches, and dense clusters.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1463040"/>
                <a:gridCol w="6156655"/>
              </a:tblGrid>
              <a:tr h="4754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Test Case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Query Center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Radius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Verification Criteria &amp; Expected Output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(390, 300)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100 px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Nominal Core Dispatch: Matches D7 (dist 67.1) and D8 (dist 86.0). Demonstrates clean pruning of distant subtrees.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(390, 300)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50 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Tight Micro-Radius: Sensitivity test. Correctly filters out D7 and D8; strictly returns zero false positives.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(50, 50)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30 px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Perimeter Zero-Match Edge Case: 100% of MBRs pruned at high level; zero exact distance calculations executed.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TC4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(620, 300)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 = 100 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East Downtown Density: Matches D5 (dist 40.0) and D9 (dist 92.2). Demonstrates quadratic split overlap control.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114800"/>
            <a:ext cx="10728655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79392"/>
            <a:ext cx="10362895" cy="1773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Live Demo Command Center Capabilities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60Hz GIS Canvas with Pan &amp; Zoom: </a:t>
            </a:r>
            <a:r>
              <a:rPr sz="1050">
                <a:solidFill>
                  <a:srgbClr val="334155"/>
                </a:solidFill>
                <a:latin typeface="Segoe UI"/>
              </a:rPr>
              <a:t>Smooth mouse-wheel zoom (0.5x–3.5x) and middle-click pan across the metropolitan transit grid.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Dynamic Autopilot Telemetry Stream: </a:t>
            </a:r>
            <a:r>
              <a:rPr sz="1050">
                <a:solidFill>
                  <a:srgbClr val="334155"/>
                </a:solidFill>
                <a:latin typeface="Segoe UI"/>
              </a:rPr>
              <a:t>Autonomous vehicles wander city transit corridors; positions update in O(log N) via atomic delete + re-insert.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Dynamic Surge Pricing Heatmaps: </a:t>
            </a:r>
            <a:r>
              <a:rPr sz="1050">
                <a:solidFill>
                  <a:srgbClr val="334155"/>
                </a:solidFill>
                <a:latin typeface="Segoe UI"/>
              </a:rPr>
              <a:t>Calculates localized driver density from R*-Tree MBRs in real-time, displaying dynamic 1.0x–3.8x surge multipliers.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Interactive Trip Lifecycle: </a:t>
            </a:r>
            <a:r>
              <a:rPr sz="1050">
                <a:solidFill>
                  <a:srgbClr val="334155"/>
                </a:solidFill>
                <a:latin typeface="Segoe UI"/>
              </a:rPr>
              <a:t>Dispatches nearest car, animates navigation to pickup, board passenger, and complete trip to dropoff.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RUBRIC 5 — 2 MARKS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Individual Team Contributions &amp; GitHub Proof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81 Conventional Commits distributed across all 4 team members with verified GitHub emails.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468880"/>
                <a:gridCol w="1097280"/>
                <a:gridCol w="3139135"/>
              </a:tblGrid>
              <a:tr h="58521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Roll Number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GitHub Registered Email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Commits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Specific Technical Contribution Domain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Dhanvant Menon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CB.SC..U4CSE25613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dhanvantmenon@gmail.com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Spatial geometry primitives (Rectangle), MINDIST bounds, Hilbert curve math, 3D bounds.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Miriyala Dhanwin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dhanwinn15@gmail.com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Core R*-Tree engine, leaf telemetry encapsulation (REntry), quadratic split, bulk loading.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Paruchuri Sai Shasank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CB.SC..U4CSE25645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paruchurishasank04@gmail.com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 radius pruning, in-tree k-NN ranking, vehicle tier filter, benchmark harness.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Adwaith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CB.SC.U4CSE25602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adwaithdhoni7@gmail.com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Hi-Fi Tkinter GIS GUI, 60Hz canvas, pan &amp; zoom, dynamic autopilot, surge heatmaps, README.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663440"/>
            <a:ext cx="10728655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828032"/>
            <a:ext cx="10362895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Repository &amp; Commit History Proof Links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Public GitHub Repository: </a:t>
            </a:r>
            <a:r>
              <a:rPr sz="1050">
                <a:solidFill>
                  <a:srgbClr val="334155"/>
                </a:solidFill>
                <a:latin typeface="Segoe UI"/>
              </a:rPr>
              <a:t>https://github.com/miriyaladhanwinn/uber-rstar-tree-dispatch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Direct Commit History: </a:t>
            </a:r>
            <a:r>
              <a:rPr sz="1050">
                <a:solidFill>
                  <a:srgbClr val="334155"/>
                </a:solidFill>
                <a:latin typeface="Segoe UI"/>
              </a:rPr>
              <a:t>https://github.com/miriyaladhanwinn/uber-rstar-tree-dispatch/commits/main (81 Total Verified Commits)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SUMMARY &amp; TAKEAWAYS  |  AMRITA CSE — DSA LAB EVALUATION 3</a:t>
            </a:r>
          </a:p>
          <a:p>
            <a:pPr>
              <a:spcAft>
                <a:spcPts val="20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Conclusion &amp; Lab Evaluation Viva Defense Guide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Key points for individual faculty interviews to secure full 10/10 marks.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Key Project Takeaways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Unified Data Structure Paradigm: </a:t>
            </a:r>
            <a:r>
              <a:rPr sz="1050">
                <a:solidFill>
                  <a:srgbClr val="334155"/>
                </a:solidFill>
                <a:latin typeface="Segoe UI"/>
              </a:rPr>
              <a:t>Consolidating state and index into ONE R*-Tree eradicates state fragmentation and distributed lock contention.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Deterministic Logarithmic Scaling: </a:t>
            </a:r>
            <a:r>
              <a:rPr sz="1050">
                <a:solidFill>
                  <a:srgbClr val="334155"/>
                </a:solidFill>
                <a:latin typeface="Segoe UI"/>
              </a:rPr>
              <a:t>Transforms intractable O(N) distance calculations into deterministic O(log_M N + K) subtree checks.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MINDIST Geometric Bounding: </a:t>
            </a:r>
            <a:r>
              <a:rPr sz="1050">
                <a:solidFill>
                  <a:srgbClr val="334155"/>
                </a:solidFill>
                <a:latin typeface="Segoe UI"/>
              </a:rPr>
              <a:t>Skips 99% of candidate fleet at high-level tree checks before computing exact Euclidean distances.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Zero External Auxiliary Structures: </a:t>
            </a:r>
            <a:r>
              <a:rPr sz="1050">
                <a:solidFill>
                  <a:srgbClr val="334155"/>
                </a:solidFill>
                <a:latin typeface="Segoe UI"/>
              </a:rPr>
              <a:t>In-tree branch-and-bound supersedes external priority queues, while leaf records supersede external hash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19072"/>
            <a:ext cx="4846320" cy="4334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Top 4 Viva Questions &amp; Exact Answers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Q: Why not use a Quad-Tree?: </a:t>
            </a:r>
            <a:r>
              <a:rPr sz="1050">
                <a:solidFill>
                  <a:srgbClr val="334155"/>
                </a:solidFill>
                <a:latin typeface="Segoe UI"/>
              </a:rPr>
              <a:t>A: Fixed quadrant splitting causes deep, unbalanced skews in dense urban cores; R*-Tree uses adaptive MBRs and quadratic split.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Q: How does dynamic movement work?: </a:t>
            </a:r>
            <a:r>
              <a:rPr sz="1050">
                <a:solidFill>
                  <a:srgbClr val="334155"/>
                </a:solidFill>
                <a:latin typeface="Segoe UI"/>
              </a:rPr>
              <a:t>A: Atomic leaf delete, CondenseTree underflow borrowing, and least-enlargement re-insertion in O(log N).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Q: Why eliminate Priority Queues for k-NN?: </a:t>
            </a:r>
            <a:r>
              <a:rPr sz="1050">
                <a:solidFill>
                  <a:srgbClr val="334155"/>
                </a:solidFill>
                <a:latin typeface="Segoe UI"/>
              </a:rPr>
              <a:t>A: Branch-and-bound evaluates geometric bounds directly on internal MBRs, pruning branches worse than the k-th candidate.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Q: What is the space complexity?: </a:t>
            </a:r>
            <a:r>
              <a:rPr sz="1050">
                <a:solidFill>
                  <a:srgbClr val="334155"/>
                </a:solidFill>
                <a:latin typeface="Segoe UI"/>
              </a:rPr>
              <a:t>A: O(N) with low constant factor; nodes maintain bounding boxes and entry tuples directly.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