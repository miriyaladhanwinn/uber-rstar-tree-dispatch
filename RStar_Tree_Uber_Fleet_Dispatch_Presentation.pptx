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18872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AMRITA VISHWA VIDYAPEETHAM</a:t>
            </a:r>
          </a:p>
          <a:p>
            <a:pPr algn="ctr">
              <a:defRPr sz="1100">
                <a:solidFill>
                  <a:srgbClr val="64748B"/>
                </a:solidFill>
                <a:latin typeface="Segoe UI"/>
              </a:defRPr>
            </a:pPr>
            <a:r>
              <a:t>Department of Computer Science &amp; Engineering  |  DSA Lab Evaluation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11680"/>
            <a:ext cx="85340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R*-Tree in Uber: Real-Time Fleet Dispatch</a:t>
            </a:r>
          </a:p>
          <a:p>
            <a:pPr algn="ctr">
              <a:defRPr sz="1300">
                <a:solidFill>
                  <a:srgbClr val="059669"/>
                </a:solidFill>
                <a:latin typeface="Segoe UI"/>
              </a:defRPr>
            </a:pPr>
            <a:r>
              <a:t>Unified Spatial Architecture for Dynamic Vehicle Matching &amp; GPS Telemetry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3566160"/>
            <a:ext cx="393192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3675888"/>
            <a:ext cx="356616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Miriyala Dhanwin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CB.SC.U4CSE25639  •  Core R*-Tree &amp; GUI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566160"/>
            <a:ext cx="393192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675888"/>
            <a:ext cx="356616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Adwaith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CB.SC.U4CSE25602  •  Consumer UI &amp; Simulator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572000"/>
            <a:ext cx="393192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4681728"/>
            <a:ext cx="356616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Dhanvant Menon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CB.SC.U4CSE25613  •  Test Engine &amp; Benchmarks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572000"/>
            <a:ext cx="393192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681728"/>
            <a:ext cx="356616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Paruchuri Sai Shasank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CB.SC.U4CSE25645  •  CLI Flags &amp; MBR Hierarchy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The Real-Time Fleet Dispatch Challenge in Uber</a:t>
            </a:r>
          </a:p>
          <a:p>
            <a:pPr>
              <a:spcBef>
                <a:spcPts val="300"/>
              </a:spcBef>
              <a:defRPr sz="1100">
                <a:solidFill>
                  <a:srgbClr val="2563EB"/>
                </a:solidFill>
                <a:latin typeface="Segoe UI"/>
              </a:defRPr>
            </a:pPr>
            <a:r>
              <a:t>Why simple arrays and brute-force scans fail under heavy city traffic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594360"/>
            <a:ext cx="2286000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1. Fast-Moving Fleet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Massive Fleets: Over 100,000 drivers active in a city at peak hours.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Constant Movement: Every car sends GPS coordinates every 2 to 4 seconds.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Heavy Writes: Thousands of location updates every second hit the server.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Real Challenge: Updating positions cannot freeze customer ride requests.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9470" y="164592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807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Segoe UI"/>
              </a:defRPr>
            </a:pPr>
            <a:r>
              <a:t>2. The O(N) Scan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8070" y="219456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Brute Force Loop: Checking all 100,000 cars one-by-one is O(N) complexity.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Wasted Math: Calculating distance to cars 20 km away wastes CPU power.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High Latency: Takes 150+ milliseconds per search during rush hour.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Battery Drain: Freezes database servers and slows down mobile apps.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8335" y="164592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6935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t>3. The R*-Tree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6935" y="219456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Single Data Structure: Stores cars, searches radius, and updates GPS in ONE tree.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Smart Pruning: Ignores entire distant neighborhoods before looking at cars.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Logarithmic Time: Finds nearest driver in O(log N) time (13 microseconds).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Zero State Drift: No separate hash maps or priority queues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Core Concept: How the R*-Tree Works</a:t>
            </a:r>
          </a:p>
          <a:p>
            <a:pPr>
              <a:spcBef>
                <a:spcPts val="300"/>
              </a:spcBef>
              <a:defRPr sz="1100">
                <a:solidFill>
                  <a:srgbClr val="2563EB"/>
                </a:solidFill>
                <a:latin typeface="Segoe UI"/>
              </a:defRPr>
            </a:pPr>
            <a:r>
              <a:t>Hierarchical bounding boxes that group nearby cars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594360"/>
            <a:ext cx="2286000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Data Structure Basics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Minimum Bounding Rectangle (MBR)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Box Representation: Defined by [min_x, min_y, max_x, max_y].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Tight Enclosure: Smallest possible box that covers all vehicles inside it.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Leaf Level (L0): Contains real drivers with coordinates, tier, and rating.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Internal Level (L1+): Contains bigger boxes that group smaller boxes together.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Key Benefit: If a query circle doesn't touch the box, every car inside is skipped!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Tree Balance &amp; Capacity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Max Fanout (M = 4): A node can hold at most 4 entries before it splits.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Min Capacity (m = 2): A node must hold at least 2 entries (50% occupancy).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Height Balanced: All leaf nodes are strictly at the exact same depth.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No Linked List Degradation: Even when 100 cars crowd downtown, tree height is log_4(N).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Memory Friendly: Compact pointers and array buffers keep cache misses 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Data Structure Justification: Why R*-Tree Beats Alternatives</a:t>
            </a:r>
          </a:p>
          <a:p>
            <a:pPr>
              <a:spcBef>
                <a:spcPts val="300"/>
              </a:spcBef>
              <a:defRPr sz="1100">
                <a:solidFill>
                  <a:srgbClr val="2563EB"/>
                </a:solidFill>
                <a:latin typeface="Segoe UI"/>
              </a:defRPr>
            </a:pPr>
            <a:r>
              <a:t>Comparative analysis proving why other classic data structures fail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594360"/>
            <a:ext cx="2286000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Rubric 1 — 2 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828800"/>
          <a:ext cx="1036289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94560"/>
                <a:gridCol w="3108960"/>
                <a:gridCol w="3230575"/>
              </a:tblGrid>
              <a:tr h="701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Data Structure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Normal Strength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Why It Fails in Uber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Why R*-Tree Wins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Array / List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Fast linear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Requires scanning all cars; radius search is O(N).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Hierarchical MBRs prune distant regions before distance checks.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HashMap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Instant O(1) key lookup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Hash codes destroy spatial proximity; cannot do radius search.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Coordinates are indexed directly, preserving 2D geometric neighbors.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Quad-Tree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Fast 2D quadrant split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Fixed quadrants skew badly when cars cluster downtown.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Adapts dynamic bounding boxes to dense clusters with zero dead space.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KD-Tree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Binary point splitting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Rebalancing after fast GPS movements is slow and costly.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Dynamic ChooseSubtree and CondenseTree handle fast movement in O(log N).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R*-Tree (Ours)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Dynamic spatial indexing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None — Specifically built for dynamic moving 2D objects.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Single data structure handles storage, search, filter, and movement.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Implementation Strategy: Object-Oriented Code Design</a:t>
            </a:r>
          </a:p>
          <a:p>
            <a:pPr>
              <a:spcBef>
                <a:spcPts val="300"/>
              </a:spcBef>
              <a:defRPr sz="1100">
                <a:solidFill>
                  <a:srgbClr val="2563EB"/>
                </a:solidFill>
                <a:latin typeface="Segoe UI"/>
              </a:defRPr>
            </a:pPr>
            <a:r>
              <a:t>Pure Python implementation using 4 clean object-oriented classes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594360"/>
            <a:ext cx="2286000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Rubric 2 — 2 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Rectangle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2240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59669"/>
                </a:solidFill>
                <a:latin typeface="Segoe UI"/>
              </a:defRPr>
            </a:pPr>
            <a:r>
              <a:t>Geometry Engine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Attributes: min_x, min_y, max_x, max_y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Calculates area, perimeter margin, and overlap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enlargement(other): Computes expansion waste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min_dist(px, py): Geometric Euclidean lower bound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82880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REntry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286000"/>
            <a:ext cx="2240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59669"/>
                </a:solidFill>
                <a:latin typeface="Segoe UI"/>
              </a:defRPr>
            </a:pPr>
            <a:r>
              <a:t>Spatial Tuple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Encapsulates vehicle and branch pointers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Leaf: Holds driver_id, (x, y), tier, rating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Internal: Holds child node pointer and MBR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Eliminates secondary hash table lookups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RNode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286000"/>
            <a:ext cx="2240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59669"/>
                </a:solidFill>
                <a:latin typeface="Segoe UI"/>
              </a:defRPr>
            </a:pPr>
            <a:r>
              <a:t>Tree Node Container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Holds list of entries (2 &lt;= count &lt;= 4)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Tracks level (Level 0 = Leaf, Level 1+ = Internal)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Cached MBR: Auto-recalculated on changes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Parent pointer: Supports upward tree rebalancing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64592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82880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RStarTree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286000"/>
            <a:ext cx="2240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59669"/>
                </a:solidFill>
                <a:latin typeface="Segoe UI"/>
              </a:defRPr>
            </a:pPr>
            <a:r>
              <a:t>Dispatch Engine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insert(driver_id, x, y): ChooseSubtree + split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search_radius(x, y, r): MBR intersection + filter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search_knn(x, y, k): Best-first branch &amp; bound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update_position(d_id, x, y): Atomic move in O(log 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Vehicle Ingestion: ChooseSubtree Heuristic</a:t>
            </a:r>
          </a:p>
          <a:p>
            <a:pPr>
              <a:spcBef>
                <a:spcPts val="300"/>
              </a:spcBef>
              <a:defRPr sz="1100">
                <a:solidFill>
                  <a:srgbClr val="2563EB"/>
                </a:solidFill>
                <a:latin typeface="Segoe UI"/>
              </a:defRPr>
            </a:pPr>
            <a:r>
              <a:t>How new cars are placed into bounding boxes with minimum area waste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594360"/>
            <a:ext cx="2286000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Rubric 2 — Code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1. The ChooseSubtree Descent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Goal: Find the most suitable leaf node to insert the driver.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Least Enlargement Rule: Picks the branch that needs the smallest increase in area.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Tie-Breaker: If two boxes have the same enlargement, picks the one with smaller total area.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Why It Matters: Prevents bounding boxes from expanding needlessly across the map.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Result: Keeps bounding boxes compact and tightly packed around real roads.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2. Insertion Steps in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Step 1 (Start at Root): Checks each branch entry for enlargement.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Step 2 (Descend): Recursively follows the best child down to Level 0.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Step 3 (Add Car): Adds REntry to leaf node entries list.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Step 4 (Check Overflow): If count &lt;= 4: Simply update parent MBRs.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Step 5 (Overflow Split): If count == 5: Triggers Quadratic Split and propagates upward.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Node Splitting: Guttman's Quadratic Split</a:t>
            </a:r>
          </a:p>
          <a:p>
            <a:pPr>
              <a:spcBef>
                <a:spcPts val="300"/>
              </a:spcBef>
              <a:defRPr sz="1100">
                <a:solidFill>
                  <a:srgbClr val="2563EB"/>
                </a:solidFill>
                <a:latin typeface="Segoe UI"/>
              </a:defRPr>
            </a:pPr>
            <a:r>
              <a:t>How crowded nodes split into two balanced nodes without tree skew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594360"/>
            <a:ext cx="2286000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Rubric 2 — Code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Segoe UI"/>
              </a:defRPr>
            </a:pPr>
            <a:r>
              <a:t>PickSeeds: Finding the 2 Farthest Cars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The Problem: A node has 5 cars (limit is 4). We must divide them into 2 groups.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Search All Pairs: Evaluates all pairs (E1, E2) among the 5 entries.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Max Waste Metric: Waste = Area(E1 U E2) - Area(E1) - Area(E2).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Select Seeds: Picks the pair that wastes the most space together.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Initial Assignment: Seed 1 goes to Group 1; Seed 2 goes to Group 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t>PickNext: Distributing Remaining Cars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Assign by Preference: For each remaining car, check enlargement in Group 1 vs Group 2.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Max Difference: Select the car that has the strongest preference for one group.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Min-Occupancy Guard: If one group needs all remaining cars to hit m=2, assign them immediately.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Guaranteed Balance: Both resulting nodes are guaranteed to have between 2 and 4 cars.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Root Splitting: If root overflows, height increases by 1 cleanly.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Dynamic Movement &amp; Deletion: CondenseTree</a:t>
            </a:r>
          </a:p>
          <a:p>
            <a:pPr>
              <a:spcBef>
                <a:spcPts val="300"/>
              </a:spcBef>
              <a:defRPr sz="1100">
                <a:solidFill>
                  <a:srgbClr val="2563EB"/>
                </a:solidFill>
                <a:latin typeface="Segoe UI"/>
              </a:defRPr>
            </a:pPr>
            <a:r>
              <a:t>Handling continuous vehicle movement and driver logouts without full rebuilds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594360"/>
            <a:ext cx="2286000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Rubric 2 — Fleet Updates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1. Dynamic GPS Relocation (O(log N))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Car Moves in Real Time: Driver D1 relocates from (150, 150) to (620, 300).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Atomic Update: 1. Delete old leaf tuple  ➔  2. Re-insert at new coordinate.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No Global Rebuild: Only touches nodes along the path to root.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Ultra-Fast Latency: Completed in ~85 microseconds on live simulation.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Continuous Consistency: Rider queries always see real-time vehicle positions.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2. Driver Logout &amp; CondenseTree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Driver Signs Off: Vehicle entry is deleted from leaf node.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Underflow Check: If node drops below minimum entries (count &lt; 2):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Prune Underfull Node: Remove the node from its parent.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Collect Orphans: Harvest any remaining valid cars in that node.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Root Re-Insertion: Re-insert orphan cars from root to find better compact boxes.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Eliminates Dead Space: Keeps all bounding boxes tight and compact.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Time Complexity Analysis &amp; Mathematical Justification</a:t>
            </a:r>
          </a:p>
          <a:p>
            <a:pPr>
              <a:spcBef>
                <a:spcPts val="300"/>
              </a:spcBef>
              <a:defRPr sz="1100">
                <a:solidFill>
                  <a:srgbClr val="2563EB"/>
                </a:solidFill>
                <a:latin typeface="Segoe UI"/>
              </a:defRPr>
            </a:pPr>
            <a:r>
              <a:t>Rigorous Big-O derivation comparing R*-Tree against brute-force scan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594360"/>
            <a:ext cx="2286000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Rubric 4 — 2 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712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t>Radius Range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59669"/>
                </a:solidFill>
                <a:latin typeface="Segoe UI"/>
              </a:defRPr>
            </a:pPr>
            <a:r>
              <a:t>O(log_M N + K)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M = Fanout (4), N = Fleet size (14), K = Matches.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Tree height h = ceil(log_4 14) = 2 levels.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Visits only ~3 nodes instead of all 14 vehicles.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Measured Latency: 13.2 microseconds.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Speedup: 11.0x faster than linear scan.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828800"/>
            <a:ext cx="28712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GPS Update / Movement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28600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O(log_M N)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Atomic leaf delete + ChooseSubtree insert.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Descends exactly h = 2 levels.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Adjusts bounding box upwards in O(log N).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Measured Latency: ~85 microseconds.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Can absorb 10,000+ GPS updates per second.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1828800"/>
            <a:ext cx="28712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Space Complexity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28600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O(N) Linear Memory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Every vehicle is stored in exactly one leaf node.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Node occupancy guaranteed &gt;= 50% (m=2, M=4).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Maximum nodes in tree &lt;= 2 * (N / m).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Zero memory leaks or orphan allocations.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Ultra-compact memory footprint (~2 MB for 10K cars).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Hierarchical Spatial MBR Pruning Mechanics</a:t>
            </a:r>
          </a:p>
          <a:p>
            <a:pPr>
              <a:spcBef>
                <a:spcPts val="300"/>
              </a:spcBef>
              <a:defRPr sz="1100">
                <a:solidFill>
                  <a:srgbClr val="2563EB"/>
                </a:solidFill>
                <a:latin typeface="Segoe UI"/>
              </a:defRPr>
            </a:pPr>
            <a:r>
              <a:t>How MINDIST mathematical rejection discards entire city sectors in O(1)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594360"/>
            <a:ext cx="2286000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Rubric 4 — Pruning Proof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1. The MINDIST 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MINDIST Definition: The shortest possible distance from query point (qx, qy) to any edge of an MBR box.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dx calculation: dx = max(0, min_x - qx, qx - max_x)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dy calculation: dy = max(0, min_y - qy, qy - max_y)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Formula: MINDIST(Q, MBR) = sqrt(dx^2 + dy^2).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Pruning Rule: If MINDIST(Q, MBR) &gt; Search_Radius: PRUNE!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Mathematical Guarantee: Impossible for any vehicle inside that box to be within radius.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t>2. Real Verification on Screen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Downtown Query: Rider at (390, 300) with Radius 100px.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Airport MBR: MINDIST is 240px &gt; 100px ➔ Pruned instantly!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West Harbour MBR: MINDIST is 180px &gt; 100px ➔ Pruned instantly!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Efficiency Result: 6 of 8 subtrees pruned at branch level.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Leaf Savings: Avoided 11 unnecessary coordinate distance calculations!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Work Skipped: 66.7% of the metropolitan fleet pruned in 1 step.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In-Tree Best-First Branch &amp; Bound k-NN Matching</a:t>
            </a:r>
          </a:p>
          <a:p>
            <a:pPr>
              <a:spcBef>
                <a:spcPts val="300"/>
              </a:spcBef>
              <a:defRPr sz="1100">
                <a:solidFill>
                  <a:srgbClr val="2563EB"/>
                </a:solidFill>
                <a:latin typeface="Segoe UI"/>
              </a:defRPr>
            </a:pPr>
            <a:r>
              <a:t>Finding the top-k nearest drivers without sorting the whole fleet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594360"/>
            <a:ext cx="2286000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Rubric 4 — k-NN Dispatch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1. Best-First Priority Queue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The k-NN Goal: Find top 3 closest available drivers anywhere in the city.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No Global Sort: Sorting 100,000 cars takes O(N log N) — too slow!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Priority Queue of MBRs: Orders bounding boxes by MINDIST to rider.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Most Promising First: Always explores the closest bounding box first.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Leaves Inspected: Cars in the closest box are added to candidate list.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Segoe UI"/>
              </a:defRPr>
            </a:pPr>
            <a:r>
              <a:t>2. Dynamic Cutoff Bound (D_max)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Dynamic Bound: D_max = Distance to the current 3rd closest car.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Branch Pruning Rule: If MINDIST(MBR) &gt;= D_max, skip the entire box!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Why It Works: No car in that box can possibly beat our current top 3.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Live Result (TC7): Ranked 1. D7 (67.1px), 2. D8 (86.0px), 3. D3 (114.0px).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Cutoff D_max = 114px: Pruned all remaining branches across the city.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Total Latency: 25.1 microseconds!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Interactive Live GUI &amp; Real-Time Dispatch Hub</a:t>
            </a:r>
          </a:p>
          <a:p>
            <a:pPr>
              <a:spcBef>
                <a:spcPts val="300"/>
              </a:spcBef>
              <a:defRPr sz="1100">
                <a:solidFill>
                  <a:srgbClr val="2563EB"/>
                </a:solidFill>
                <a:latin typeface="Segoe UI"/>
              </a:defRPr>
            </a:pPr>
            <a:r>
              <a:t>Visual 2D GIS canvas showing moving cars, MBR boxes, and animated trips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594360"/>
            <a:ext cx="2286000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Rubric 3 — Live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712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Interactive 2D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Shows 14 cars with live badges: Auto 🛺, Moto 🏍️, UberX 🚗, Black 🚘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Cyan boxes = Leaf MBRs; Magenta boxes = Internal MBRs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Red dashed boxes = Pruned subtrees (MINDIST &gt; R)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Click anywhere on map to reposition rider instantly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828800"/>
            <a:ext cx="28712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Live Ride Dispatch 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28600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Simulate Live Trip: Animates car driving to rider!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Shows Driver Name, Rating (⭐ 4.91), Fare (₹84), and ETA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Auto-Expand Radius Solver: Expands circle to find cars if 0 nearby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Radius Slider: Live adjustment from 20px to 500px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1828800"/>
            <a:ext cx="28712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Live Performance Gauge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28600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Asymptotic Pruning Progress Bar: Shows exact % pruned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R*-Tree (13.2 us) vs Brute Force (145.0 us) speedup meter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Tree Breadcrumb Inspector: Root ➔ Internal ➔ Leaf path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One-click faculty test buttons: TC1 through TC10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Official Faculty Test Cases: Nominal vs Edge Cases</a:t>
            </a:r>
          </a:p>
          <a:p>
            <a:pPr>
              <a:spcBef>
                <a:spcPts val="300"/>
              </a:spcBef>
              <a:defRPr sz="1100">
                <a:solidFill>
                  <a:srgbClr val="2563EB"/>
                </a:solidFill>
                <a:latin typeface="Segoe UI"/>
              </a:defRPr>
            </a:pPr>
            <a:r>
              <a:t>Evaluating standard requests, boundary filters, tangent precision, and empty sectors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594360"/>
            <a:ext cx="2286000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Rubric 3 — Test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t>TC 1: Normal Downtown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2240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b="1">
                <a:solidFill>
                  <a:srgbClr val="64748B"/>
                </a:solidFill>
                <a:latin typeface="Segoe UI"/>
              </a:defRPr>
            </a:pPr>
            <a:r>
              <a:t>Nominal Standard Case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Input: Origin (390, 300), Radius = 100px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Matches: 2 cars -&gt; D7 (67.1px) &amp; D8 (86.0px)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Dispatched: D7 (Closest car, optimal dispatch)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Pruning: 66.7% of distant fleet pruned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Verdict: [PASSED] in 28 microseconds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82880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Segoe UI"/>
              </a:defRPr>
            </a:pPr>
            <a:r>
              <a:t>TC 2: Micro-Radius (Edge)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286000"/>
            <a:ext cx="2240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b="1">
                <a:solidFill>
                  <a:srgbClr val="64748B"/>
                </a:solidFill>
                <a:latin typeface="Segoe UI"/>
              </a:defRPr>
            </a:pPr>
            <a:r>
              <a:t>Boundary Filter Edge Case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Input: Origin (390, 300), Radius = 50px (Tight)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Matches: 0 cars (D7 is at 67.1px &gt; 50px [Rejected])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Key Proof: ZERO FALSE POSITIVES returned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Red rejection lines drawn on canvas to D7 &amp; D8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Verdict: [PASSED] Clean empty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TC 3: Exact Tangent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286000"/>
            <a:ext cx="2240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b="1">
                <a:solidFill>
                  <a:srgbClr val="64748B"/>
                </a:solidFill>
                <a:latin typeface="Segoe UI"/>
              </a:defRPr>
            </a:pPr>
            <a:r>
              <a:t>Edge-to-Edge Precision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Input: Radius set to EXACT distance of D7 (67.0820px)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Matches: Exactly 1 car (D7 right on perimeter)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Epsilon Tolerance: (d &lt;= R + 1e-9) includes D7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D8 (86px) strictly excluded outside circle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Verdict: [PASSED] Floating-point precision confirmed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64592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82880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TC 4: Empty Corner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286000"/>
            <a:ext cx="2240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b="1">
                <a:solidFill>
                  <a:srgbClr val="64748B"/>
                </a:solidFill>
                <a:latin typeface="Segoe UI"/>
              </a:defRPr>
            </a:pPr>
            <a:r>
              <a:t>Root Pruning Edge Case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Input: Origin (50, 50), Radius = 30px (Empty Corner)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Matches: 0 cars (Empty Quadrant)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Pruning: MINDIST &gt; R for all MBRs at root level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100% of tree pruned in O(1) with 0 leaf checks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Verdict: [PASSED] Zero runtime crashes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Advanced Faculty Cases: Stress, Tiers, k-NN &amp; Updates</a:t>
            </a:r>
          </a:p>
          <a:p>
            <a:pPr>
              <a:spcBef>
                <a:spcPts val="300"/>
              </a:spcBef>
              <a:defRPr sz="1100">
                <a:solidFill>
                  <a:srgbClr val="2563EB"/>
                </a:solidFill>
                <a:latin typeface="Segoe UI"/>
              </a:defRPr>
            </a:pPr>
            <a:r>
              <a:t>Stress testing dense clusters, in-tree attribute filters, and dynamic GPS updates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594360"/>
            <a:ext cx="2286000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Rubric 3 — Edge-to-Edge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TC 5: Congestion Stress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Stress Test: 25 cars injected downtown (Fleet=39). Quadratic split absorbed all overflows. Tree height balanced at 4 levels.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TC 6: Tier In-Tree 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4884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Predicate Test: Rider orders 'UberBlack'. Only D4 and D9 returned. Nearby UberX/Auto skipped in-tree without extra hash tables.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5468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3756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TC 7: k-NN Nearest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Optimization Test: Finds top 3 nearest drivers: D7 (67px), D8 (86px), D3 (114px). Cutoff D_max=114px prunes remaining branches.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5468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33756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TC 8: Max Horizon (Edge)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65760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Edge-to-Edge Enclosure: Radius = 2000px. Encloses 100% of fleet (14/14 cars). Traverses all levels with zero duplicate records.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6344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84632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TC 9: Live GPS Update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6636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Dynamic Movement: Car D1 relocates (150, 150) -&gt; (620, 300). Updated in O(log N) time (~85 us) without rebuilding tree.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66344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84632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TC 10: Sign-Off Underflow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516636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Self-Healing: Driver D14 deleted. CondenseTree handles underflow, re-inserts orphans at root, and tightens MBR boundaries.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Individual Team Contributions &amp; GitHub Commit Proof</a:t>
            </a:r>
          </a:p>
          <a:p>
            <a:pPr>
              <a:spcBef>
                <a:spcPts val="300"/>
              </a:spcBef>
              <a:defRPr sz="1100">
                <a:solidFill>
                  <a:srgbClr val="2563EB"/>
                </a:solidFill>
                <a:latin typeface="Segoe UI"/>
              </a:defRPr>
            </a:pPr>
            <a:r>
              <a:t>Verified 100 total commits evenly balanced across all 4 team member accounts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594360"/>
            <a:ext cx="2286000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Rubric 5 — 2 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Miriyala Dhanwin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2402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59669"/>
                </a:solidFill>
                <a:latin typeface="Segoe UI"/>
              </a:defRPr>
            </a:pPr>
            <a:r>
              <a:t>26 Commits  •  CB.SC.U4CSE25639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Core R*-Tree &amp; Quadratic Split implementation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Numerical boundary tangent epsilon precision (1e-9)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Visual canvas callout banners &amp; district markers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Verification of all 10 terminal faculty test cases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82880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Adwaith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240280"/>
            <a:ext cx="22402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59669"/>
                </a:solidFill>
                <a:latin typeface="Segoe UI"/>
              </a:defRPr>
            </a:pPr>
            <a:r>
              <a:t>26 Commits  •  CB.SC.U4CSE25602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Consumer UI: Auto, Moto, UberX, UberBlack controls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Radius dimension arrows and rejection lines on canvas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Real-time animated trip simulation engine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Auto-expand radius solver for zero-match edge cases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Dhanvant Menon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240280"/>
            <a:ext cx="22402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59669"/>
                </a:solidFill>
                <a:latin typeface="Segoe UI"/>
              </a:defRPr>
            </a:pPr>
            <a:r>
              <a:t>25 Commits  •  CB.SC.U4CSE25613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Dual-engine test runner (standalone fallback engine)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Asymptotic time &amp; space complexity proofs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Benchmarking harness (R*-Tree vs Brute-Force O(N))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Comprehensive test reports and rubric alignments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64592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82880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Paruchuri Sai Shasank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240280"/>
            <a:ext cx="22402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59669"/>
                </a:solidFill>
                <a:latin typeface="Segoe UI"/>
              </a:defRPr>
            </a:pPr>
            <a:r>
              <a:t>25 Commits  •  CB.SC.U4CSE25645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CLI entrypoint integration (--test, --cli, --auto)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Tree hierarchy inspector and node breadcrumbs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Underflow borrowing and CondenseTree self-healing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Technical documentation and README verification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Conclusion &amp; Viva Voce Lab Defense Cheatsheet</a:t>
            </a:r>
          </a:p>
          <a:p>
            <a:pPr>
              <a:spcBef>
                <a:spcPts val="300"/>
              </a:spcBef>
              <a:defRPr sz="1100">
                <a:solidFill>
                  <a:srgbClr val="2563EB"/>
                </a:solidFill>
                <a:latin typeface="Segoe UI"/>
              </a:defRPr>
            </a:pPr>
            <a:r>
              <a:t>Key points to state clearly during faculty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594360"/>
            <a:ext cx="2286000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Summary &amp; Takeaways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1. Single Data Structure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We eliminated fragmented data structures (HashMaps + Heaps + Graphs).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The R*-Tree handles storage, radius search, tier filtering, and movement in ONE hierarchy.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Eliminates distributed locking, cache thrashing, and state drift.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257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2. Guaranteed Performance &amp; Pruning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240280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Hierarchical MBR pruning skips 66% to 100% of distant city sectors.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Radius search runs in O(log_M N + K) = ~13 microseconds.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Dynamic GPS position updates run in O(log_M N) = ~85 microseconds.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57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1480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3. 100% Test &amp; Edge-Case Pass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Passed 10/10 faculty test cases with zero crashes or runtime errors.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Strict micro-radius test guarantees 0 False Positives.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Tangent perimeter test guarantees epsilon floating-point boundary inclusion.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31920"/>
            <a:ext cx="5257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1480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4. Team &amp; Code Deliverables 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526280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Live interactive Python GUI with real-time trip simulation.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Zero external dependencies: runs seamlessly in VS Code or Terminal.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100 verified commits on GitHub with perfectly equal member distribution.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