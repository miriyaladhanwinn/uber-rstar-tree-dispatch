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Segoe UI"/>
              </a:defRPr>
            </a:pPr>
            <a:r>
              <a:t>AMRITA VISHWA VIDYAPEETHAM  •  DEPARTMENT OF COMPUTER SCIENCE &amp; ENGINEERING</a:t>
            </a:r>
          </a:p>
          <a:p>
            <a:pPr>
              <a:defRPr sz="1150" b="1">
                <a:solidFill>
                  <a:srgbClr val="64748B"/>
                </a:solidFill>
                <a:latin typeface="Segoe UI"/>
              </a:defRPr>
            </a:pPr>
            <a:r>
              <a:t>DATA STRUCTURES &amp; ALGORITHMS (DSA)  |  LAB EVALUATION 3 COMPREHENSIVE CASE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101800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R*-Tree in Uber</a:t>
            </a:r>
          </a:p>
          <a:p>
            <a:pPr>
              <a:defRPr sz="1550" b="1">
                <a:solidFill>
                  <a:srgbClr val="2563EB"/>
                </a:solidFill>
                <a:latin typeface="Segoe UI"/>
              </a:defRPr>
            </a:pPr>
            <a:r>
              <a:t>A Unified Spatial Architecture for Real-Time Fleet Dispatch &amp; Dynamic Matching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Primary and Sole Data Structure: Multidimensional Bounding Box Spatial Index with In-Tree k-NN &amp; 3D Digital Twin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794760"/>
          <a:ext cx="1072865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2468880"/>
                <a:gridCol w="4876495"/>
              </a:tblGrid>
              <a:tr h="4754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S.No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 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Roll Number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Technical Domain &amp; Git Ownership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 Menon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CB.SC..U4CSE25613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Spatial Geometry Primitives, MINDIST Euclidean Bounds, Unit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Miriyala Dhanwin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R*-Tree Core Engine, Telemetry Leaf Encapsulation, Quadratic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 Sai Shasank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 Pruning, In-Tree k-NN Ranking, Benchmark Engine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Hi-Fi GIS Command Center GUI, Spline 3D Digital Twin, Surge Heatmaps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TOPIC OVERVIEW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Executive Summary: The Real-Time Fleet Dispatch Challenge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Handling 150,000+ active GPS telemetry streams in dense metropolitan corridors within 10ms SLA.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DC2626"/>
                </a:solidFill>
                <a:latin typeface="Segoe UI"/>
              </a:defRPr>
            </a:pPr>
            <a:r>
              <a:t>The Fleet Dispatch Dilemma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High GPS Telemetry Churn: </a:t>
            </a:r>
            <a:r>
              <a:rPr sz="1000">
                <a:solidFill>
                  <a:srgbClr val="334155"/>
                </a:solidFill>
                <a:latin typeface="Segoe UI"/>
              </a:rPr>
              <a:t>Over 150,000 active Uber vehicles broadcast coordinates every 1–3s, causing continuous database write floods.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Linear Scan Paralysis O(N): </a:t>
            </a:r>
            <a:r>
              <a:rPr sz="1000">
                <a:solidFill>
                  <a:srgbClr val="334155"/>
                </a:solidFill>
                <a:latin typeface="Segoe UI"/>
              </a:rPr>
              <a:t>Iterating over every vehicle to compute Euclidean distance chokes CPU cores and creates latency spikes.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State Fragmentation: </a:t>
            </a:r>
            <a:r>
              <a:rPr sz="1000">
                <a:solidFill>
                  <a:srgbClr val="334155"/>
                </a:solidFill>
                <a:latin typeface="Segoe UI"/>
              </a:rPr>
              <a:t>Splitting state across HashMaps (drivers), Spatial Grids (index), and Heaps (ranking) causes severe cache thrashing and lock contention.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Tight Dispatch SLA: </a:t>
            </a:r>
            <a:r>
              <a:rPr sz="1000">
                <a:solidFill>
                  <a:srgbClr val="334155"/>
                </a:solidFill>
                <a:latin typeface="Segoe UI"/>
              </a:rPr>
              <a:t>Rider match requests demand top-5 candidate discovery within 3 km in under 10 milliseconds during peak surge.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The Unified R*-Tree Solution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Single Data Structure Paradigm: </a:t>
            </a:r>
            <a:r>
              <a:rPr sz="1000">
                <a:solidFill>
                  <a:srgbClr val="334155"/>
                </a:solidFill>
                <a:latin typeface="Segoe UI"/>
              </a:rPr>
              <a:t>Replaces disparate hash tables and heaps by maintaining state and spatial index entirely inside one R*-Tree.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Leaf Telemetry Encapsulation: </a:t>
            </a:r>
            <a:r>
              <a:rPr sz="1000">
                <a:solidFill>
                  <a:srgbClr val="334155"/>
                </a:solidFill>
                <a:latin typeface="Segoe UI"/>
              </a:rPr>
              <a:t>Leaf entries directly hold driver coordinates, vehicle tier, availability status, heading, and speed.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Hierarchical Geometric Pruning: </a:t>
            </a:r>
            <a:r>
              <a:rPr sz="1000">
                <a:solidFill>
                  <a:srgbClr val="334155"/>
                </a:solidFill>
                <a:latin typeface="Segoe UI"/>
              </a:rPr>
              <a:t>MINDIST lower bounding tests prune 92%–99% of candidate fleet without exact distance calculations.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Dynamic Logarithmic Balance: </a:t>
            </a:r>
            <a:r>
              <a:rPr sz="1000">
                <a:solidFill>
                  <a:srgbClr val="334155"/>
                </a:solidFill>
                <a:latin typeface="Segoe UI"/>
              </a:rPr>
              <a:t>Absorbs dynamic GPS updates in O(log N) via atomic deletion and CondenseTree rebalancing.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Predictable Sub-Millisecond Dispatch: </a:t>
            </a:r>
            <a:r>
              <a:rPr sz="1000">
                <a:solidFill>
                  <a:srgbClr val="334155"/>
                </a:solidFill>
                <a:latin typeface="Segoe UI"/>
              </a:rPr>
              <a:t>Dispatches optimal vehicles in 12–45 µs, well within industrial production SLAs.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SYSTEM DESIGN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The Unified Single Data Structure Architecture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Eliminating external HashMaps, Grids, and Priority Queues into a singular cohesive spatial engine.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DC2626"/>
                </a:solidFill>
                <a:latin typeface="Segoe UI"/>
              </a:defRPr>
            </a:pPr>
            <a:r>
              <a:t>Traditional Fragmented Approach (Flawed)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Spatial Index Grid: </a:t>
            </a:r>
            <a:r>
              <a:rPr sz="1000">
                <a:solidFill>
                  <a:srgbClr val="334155"/>
                </a:solidFill>
                <a:latin typeface="Segoe UI"/>
              </a:rPr>
              <a:t>Used solely to find candidate coordinates. Suffers from fixed-cell boundary boundary clipping.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External Driver HashMap: </a:t>
            </a:r>
            <a:r>
              <a:rPr sz="1000">
                <a:solidFill>
                  <a:srgbClr val="334155"/>
                </a:solidFill>
                <a:latin typeface="Segoe UI"/>
              </a:rPr>
              <a:t>Required to look up driver profile (tier, rating, status). Causes secondary pointer chases.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External Priority Queue (Heap): </a:t>
            </a:r>
            <a:r>
              <a:rPr sz="1000">
                <a:solidFill>
                  <a:srgbClr val="334155"/>
                </a:solidFill>
                <a:latin typeface="Segoe UI"/>
              </a:rPr>
              <a:t>Required to sort candidates by proximity, introducing separate O(K log K) heap allocations.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Distributed Concurrency Locks: </a:t>
            </a:r>
            <a:r>
              <a:rPr sz="1000">
                <a:solidFill>
                  <a:srgbClr val="334155"/>
                </a:solidFill>
                <a:latin typeface="Segoe UI"/>
              </a:rPr>
              <a:t>Multiple locks across index, state map, and queue cause race conditions and driver double-dispatch.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Severe Cache Eviction: </a:t>
            </a:r>
            <a:r>
              <a:rPr sz="1000">
                <a:solidFill>
                  <a:srgbClr val="334155"/>
                </a:solidFill>
                <a:latin typeface="Segoe UI"/>
              </a:rPr>
              <a:t>Jumping between hash tables, grid arrays, and heaps destroys CPU L1/L2 cache locality.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Unified R*-Tree Paradigm (Our Design)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All-in-One Leaf Tuples (REntry): </a:t>
            </a:r>
            <a:r>
              <a:rPr sz="1000">
                <a:solidFill>
                  <a:srgbClr val="334155"/>
                </a:solidFill>
                <a:latin typeface="Segoe UI"/>
              </a:rPr>
              <a:t>Stores driver_id, coordinates (x, y), status, vehicle_tier, rating, heading, and speed directly in the tree leaf.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Direct In-Tree Filtering: </a:t>
            </a:r>
            <a:r>
              <a:rPr sz="1000">
                <a:solidFill>
                  <a:srgbClr val="334155"/>
                </a:solidFill>
                <a:latin typeface="Segoe UI"/>
              </a:rPr>
              <a:t>Status (AVAILABLE) and Tier (UberX, Black, XL) are evaluated inline during tree branch traversal.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In-Tree Branch-and-Bound k-NN: </a:t>
            </a:r>
            <a:r>
              <a:rPr sz="1000">
                <a:solidFill>
                  <a:srgbClr val="334155"/>
                </a:solidFill>
                <a:latin typeface="Segoe UI"/>
              </a:rPr>
              <a:t>Evaluates ascending MINDIST bounds dynamically; completely eliminates external priority heaps.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Zero State Drift Guarantee: </a:t>
            </a:r>
            <a:r>
              <a:rPr sz="1000">
                <a:solidFill>
                  <a:srgbClr val="334155"/>
                </a:solidFill>
                <a:latin typeface="Segoe UI"/>
              </a:rPr>
              <a:t>Updating a driver's GPS coordinate or trip status occurs in-place; state and spatial index cannot diverge.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High CPU Cache Locality: </a:t>
            </a:r>
            <a:r>
              <a:rPr sz="1000">
                <a:solidFill>
                  <a:srgbClr val="334155"/>
                </a:solidFill>
                <a:latin typeface="Segoe UI"/>
              </a:rPr>
              <a:t>Traversing tree pointers keeps nodes sequentially contiguous in memory.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1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Data Structure Justification: Comparative Tradeoff Matrix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Formal evaluation of candidate data structures against dynamic fleet dispatch requirements.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920240"/>
                <a:gridCol w="3413455"/>
                <a:gridCol w="338328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Normal Operation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It Fails for Uber Fleet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Unified R*-Tree Decisively Wins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Array / Flat 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O(1) append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Candidate search requires O(N) linear scan across entire fleet.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MBRs prune 99% of distant fleet points in O(log 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HashMap / Dictionary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O(1) key 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 functions destroy spatial proximity; radius queries degenerate to O(N).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Coordinates are indexed spatially; leaf tuples encapsulate driver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KD-Tree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Binary spatial split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Frequent GPS deletions &amp; rebalancing cause severe tree degradation.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Designed for dynamic GPS updates; handles deletion &amp; split in O(log 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Quad-Tree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Fixed 4 quadrants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Dense urban clustering creates deep, unbalanced paths and boundary splits.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Adapts rectangular MBRs with quadratic splitting &amp; forced re-insertion.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Priority Queue / Heap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 N) top extract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Cannot discover spatial candidates; only ranks pre-filtered items.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Performs in-tree branch-and-bound k-NN directly using MINDIST bounds.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Mathematical Foundations &amp; System Architecture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Object-oriented modular design encapsulating geometry, records, nodes, and tree index.</a:t>
            </a:r>
          </a:p>
        </p:txBody>
      </p:sp>
      <p:pic>
        <p:nvPicPr>
          <p:cNvPr id="4" name="Picture 3" descr="slide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Mathematical Formulations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MBR Area Formulation: </a:t>
            </a:r>
            <a:r>
              <a:rPr sz="1000">
                <a:solidFill>
                  <a:srgbClr val="334155"/>
                </a:solidFill>
                <a:latin typeface="Segoe UI"/>
              </a:rPr>
              <a:t>Area(R) = (max_x - min_x) × (max_y - min_y). Measures spatial bounding box coverage.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MBR Semi-Perimeter Margin: </a:t>
            </a:r>
            <a:r>
              <a:rPr sz="1000">
                <a:solidFill>
                  <a:srgbClr val="334155"/>
                </a:solidFill>
                <a:latin typeface="Segoe UI"/>
              </a:rPr>
              <a:t>Margin(R) = (max_x - min_x) + (max_y - min_y). Quadratic split tie-break heuristic.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Euclidean MINDIST(Q, R): </a:t>
            </a:r>
            <a:r>
              <a:rPr sz="1000">
                <a:solidFill>
                  <a:srgbClr val="334155"/>
                </a:solidFill>
                <a:latin typeface="Segoe UI"/>
              </a:rPr>
              <a:t>Distance from point Q(qx, qy) to closest boundary of MBR R. Guaranteed lower bound.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Leaf Record (REntry): </a:t>
            </a:r>
            <a:r>
              <a:rPr sz="1000">
                <a:solidFill>
                  <a:srgbClr val="334155"/>
                </a:solidFill>
                <a:latin typeface="Segoe UI"/>
              </a:rPr>
              <a:t>Encapsulates driver ID, coordinates, status, tier, rating, heading, and speed.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Node Invariants: </a:t>
            </a:r>
            <a:r>
              <a:rPr sz="1000">
                <a:solidFill>
                  <a:srgbClr val="334155"/>
                </a:solidFill>
                <a:latin typeface="Segoe UI"/>
              </a:rPr>
              <a:t>Each node maintains MIN=2 and MAX=4 entries, enforcing 50% minimum space occupancy.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IMPLEMENTATION STRATEGY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ChooseSubtree &amp; Quadratic Overflow Splitting Heuristics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Maintaining minimal bounding box overlap and strict logarithmic depth during ingestion.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ChooseSubtree Algorithm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Descent Strategy: </a:t>
            </a:r>
            <a:r>
              <a:rPr sz="1000">
                <a:solidFill>
                  <a:srgbClr val="334155"/>
                </a:solidFill>
                <a:latin typeface="Segoe UI"/>
              </a:rPr>
              <a:t>To insert record E, the tree descends from the root selecting child node N requiring least area enlargement: ΔArea = Area(MBR(N) ∪ MBR(E)) - Area(MBR(N)).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Area Tie-Breaking: </a:t>
            </a:r>
            <a:r>
              <a:rPr sz="1000">
                <a:solidFill>
                  <a:srgbClr val="334155"/>
                </a:solidFill>
                <a:latin typeface="Segoe UI"/>
              </a:rPr>
              <a:t>If multiple child nodes require equal enlargement, ChooseSubtree selects the child with smaller base area to maximize spatial density.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Leaf Insertion: </a:t>
            </a:r>
            <a:r>
              <a:rPr sz="1000">
                <a:solidFill>
                  <a:srgbClr val="334155"/>
                </a:solidFill>
                <a:latin typeface="Segoe UI"/>
              </a:rPr>
              <a:t>When reaching a leaf node, entry E is inserted. If node entries &lt;= MAX_ENTRIES (4), the MBR is updated and descent completes.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Logarithmic Height: </a:t>
            </a:r>
            <a:r>
              <a:rPr sz="1000">
                <a:solidFill>
                  <a:srgbClr val="334155"/>
                </a:solidFill>
                <a:latin typeface="Segoe UI"/>
              </a:rPr>
              <a:t>The tree grows upward strictly when the root splits, ensuring balanced height h = O(log_M 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Quadratic Overflow Split Heuristic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Overflow Trigger: </a:t>
            </a:r>
            <a:r>
              <a:rPr sz="1000">
                <a:solidFill>
                  <a:srgbClr val="334155"/>
                </a:solidFill>
                <a:latin typeface="Segoe UI"/>
              </a:rPr>
              <a:t>When an entry is added to a node already containing MAX_ENTRIES (4), node overflows to 5 entries and splits into 2 nodes.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Seed Picking Heuristic: </a:t>
            </a:r>
            <a:r>
              <a:rPr sz="1000">
                <a:solidFill>
                  <a:srgbClr val="334155"/>
                </a:solidFill>
                <a:latin typeface="Segoe UI"/>
              </a:rPr>
              <a:t>Finds the pair of entries (E1, E2) that maximizes dead-space waste: Waste(E1, E2) = Area(MBR(E1) ∪ MBR(E2)) - Area(MBR(E1)) - Area(MBR(E2)).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Entry Distribution: </a:t>
            </a:r>
            <a:r>
              <a:rPr sz="1000">
                <a:solidFill>
                  <a:srgbClr val="334155"/>
                </a:solidFill>
                <a:latin typeface="Segoe UI"/>
              </a:rPr>
              <a:t>Iteratively assigns remaining entries to the group requiring least enlargement difference: |ΔArea_G1 - ΔArea_G2|.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50% Minimum Occupancy: </a:t>
            </a:r>
            <a:r>
              <a:rPr sz="1000">
                <a:solidFill>
                  <a:srgbClr val="334155"/>
                </a:solidFill>
                <a:latin typeface="Segoe UI"/>
              </a:rPr>
              <a:t>If a group needs all remaining entries to satisfy MIN_ENTRIES (2), remaining entries are assigned immediately.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IMPLEMENTATION STRATEGY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Dynamic GPS Telemetry Updates &amp; Tree Condensation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Real-time coordinate migration in O(log N) with underflow re-insertion and bound tightening.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Atomic Deletion &amp; Re-Insertion Pipeline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Dynamic GPS Movement: </a:t>
            </a:r>
            <a:r>
              <a:rPr sz="1000">
                <a:solidFill>
                  <a:srgbClr val="334155"/>
                </a:solidFill>
                <a:latin typeface="Segoe UI"/>
              </a:rPr>
              <a:t>Vehicles update coordinates continuously. Instead of rebuilding the tree, the engine performs atomic delete followed by re-insert.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Exact Leaf Discovery: </a:t>
            </a:r>
            <a:r>
              <a:rPr sz="1000">
                <a:solidFill>
                  <a:srgbClr val="334155"/>
                </a:solidFill>
                <a:latin typeface="Segoe UI"/>
              </a:rPr>
              <a:t>Finds the driver's current leaf node in O(log N) by descending MBRs containing the driver's old coordinates.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In-Place Extraction: </a:t>
            </a:r>
            <a:r>
              <a:rPr sz="1000">
                <a:solidFill>
                  <a:srgbClr val="334155"/>
                </a:solidFill>
                <a:latin typeface="Segoe UI"/>
              </a:rPr>
              <a:t>Removes the old REntry record and adjusts the bounding box of the containing leaf node upward to root.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Re-Insertion Descent: </a:t>
            </a:r>
            <a:r>
              <a:rPr sz="1000">
                <a:solidFill>
                  <a:srgbClr val="334155"/>
                </a:solidFill>
                <a:latin typeface="Segoe UI"/>
              </a:rPr>
              <a:t>Inserts the updated REntry with new GPS coordinates via ChooseSubtree into the optimal target cluster.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Guaranteed Correctness: </a:t>
            </a:r>
            <a:r>
              <a:rPr sz="1000">
                <a:solidFill>
                  <a:srgbClr val="334155"/>
                </a:solidFill>
                <a:latin typeface="Segoe UI"/>
              </a:rPr>
              <a:t>Eliminates stale coordinates and prevents index corruption during high-speed vehicle cruising.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CondenseTree Underflow Rebalancing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Underflow Threshold: </a:t>
            </a:r>
            <a:r>
              <a:rPr sz="1000">
                <a:solidFill>
                  <a:srgbClr val="334155"/>
                </a:solidFill>
                <a:latin typeface="Segoe UI"/>
              </a:rPr>
              <a:t>When node entries drop below MIN_ENTRIES (2), node violates R*-Tree occupancy rules.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Orphan Harvesting: </a:t>
            </a:r>
            <a:r>
              <a:rPr sz="1000">
                <a:solidFill>
                  <a:srgbClr val="334155"/>
                </a:solidFill>
                <a:latin typeface="Segoe UI"/>
              </a:rPr>
              <a:t>The underflowing node is eliminated from its parent. Its remaining entries are collected into an orphan list.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MBR Retraction: </a:t>
            </a:r>
            <a:r>
              <a:rPr sz="1000">
                <a:solidFill>
                  <a:srgbClr val="334155"/>
                </a:solidFill>
                <a:latin typeface="Segoe UI"/>
              </a:rPr>
              <a:t>Ascends the tree from the eliminated node's parent to the root, recalculating tight MBRs.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Top-Down Re-Insertion: </a:t>
            </a:r>
            <a:r>
              <a:rPr sz="1000">
                <a:solidFill>
                  <a:srgbClr val="334155"/>
                </a:solidFill>
                <a:latin typeface="Segoe UI"/>
              </a:rPr>
              <a:t>Harvested orphan entries are re-inserted into the tree starting from the root at their original depth level.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Self-Healing Tree Geometry: </a:t>
            </a:r>
            <a:r>
              <a:rPr sz="1000">
                <a:solidFill>
                  <a:srgbClr val="334155"/>
                </a:solidFill>
                <a:latin typeface="Segoe UI"/>
              </a:rPr>
              <a:t>Orphan re-insertion reorganizes distorted subtrees, reduces spatial overlap, and prevents dead empty regions.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SPLINE 3D INTEGRATION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Spline 3D Spatial Digital Twin &amp; 3D Fleet Modeling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Extending 2D bounding boxes into 3D spatio-temporal volumes with WebGL live rendering.</a:t>
            </a:r>
          </a:p>
        </p:txBody>
      </p:sp>
      <p:pic>
        <p:nvPicPr>
          <p:cNvPr id="4" name="Picture 3" descr="spline_3d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3D Digital Twin Architecture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3D Spatio-Temporal Bounding: </a:t>
            </a:r>
            <a:r>
              <a:rPr sz="1000">
                <a:solidFill>
                  <a:srgbClr val="334155"/>
                </a:solidFill>
                <a:latin typeface="Segoe UI"/>
              </a:rPr>
              <a:t>Extends 2D MBRs into 3D volumes (x, y, t) where z-axis represents time-horizon bounds or altitude.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Spline 3D Scene Generation: </a:t>
            </a:r>
            <a:r>
              <a:rPr sz="1000">
                <a:solidFill>
                  <a:srgbClr val="334155"/>
                </a:solidFill>
                <a:latin typeface="Segoe UI"/>
              </a:rPr>
              <a:t>Programmatically generated via Spline MCP DSL: urban base grid, avenue boulevards, translucent 3D MBRs, and vehicles.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Three.js WebGL Interactive Viewer: </a:t>
            </a:r>
            <a:r>
              <a:rPr sz="1000">
                <a:solidFill>
                  <a:srgbClr val="334155"/>
                </a:solidFill>
                <a:latin typeface="Segoe UI"/>
              </a:rPr>
              <a:t>Self-contained 60 FPS 3D viewer (spline_3d_viewer.html) launched with 1-click from Tkinter GUI.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Interactive 3D Dispatch: </a:t>
            </a:r>
            <a:r>
              <a:rPr sz="1000">
                <a:solidFill>
                  <a:srgbClr val="334155"/>
                </a:solidFill>
                <a:latin typeface="Segoe UI"/>
              </a:rPr>
              <a:t>Click anywhere on the 3D ground slab to trigger animated dispatch arc lines and k-NN pulse rings.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Real-Time Telemetry HUD: </a:t>
            </a:r>
            <a:r>
              <a:rPr sz="1000">
                <a:solidFill>
                  <a:srgbClr val="334155"/>
                </a:solidFill>
                <a:latin typeface="Segoe UI"/>
              </a:rPr>
              <a:t>Displays active vehicles, tree height, pruning efficiency, and microsecond dispatch latency.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Hierarchical Spatial MBR Pruning Mechanics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Pruning entire subtrees via strict geometric lower bounds without exact distance checks.</a:t>
            </a:r>
          </a:p>
        </p:txBody>
      </p:sp>
      <p:pic>
        <p:nvPicPr>
          <p:cNvPr id="4" name="Picture 3" descr="spatial_mbr_pr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MINDIST Pruning Theorem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Geometric Lower Bound: </a:t>
            </a:r>
            <a:r>
              <a:rPr sz="1000">
                <a:solidFill>
                  <a:srgbClr val="334155"/>
                </a:solidFill>
                <a:latin typeface="Segoe UI"/>
              </a:rPr>
              <a:t>MINDIST(Q, MBR) calculates exact minimum Euclidean distance from query point Q to the boundary of MBR.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Asymptotic Pruning Rule: </a:t>
            </a:r>
            <a:r>
              <a:rPr sz="1000">
                <a:solidFill>
                  <a:srgbClr val="334155"/>
                </a:solidFill>
                <a:latin typeface="Segoe UI"/>
              </a:rPr>
              <a:t>If MINDIST(Q, MBR) &gt; Radius, NO vehicle inside can match. The entire subtree is skipped in O(1)!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Figure Walkthrough: </a:t>
            </a:r>
            <a:r>
              <a:rPr sz="1000">
                <a:solidFill>
                  <a:srgbClr val="334155"/>
                </a:solidFill>
                <a:latin typeface="Segoe UI"/>
              </a:rPr>
              <a:t>MBR A is completely outside the candidate radius. Drivers D1 and D2 are pruned with ZERO distance checks!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Massive Search Space Reduction: </a:t>
            </a:r>
            <a:r>
              <a:rPr sz="1000">
                <a:solidFill>
                  <a:srgbClr val="334155"/>
                </a:solidFill>
                <a:latin typeface="Segoe UI"/>
              </a:rPr>
              <a:t>Eliminates 92% to 99% of candidate fleet evaluations at high-level tree nodes.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Safe &amp; Optimal: </a:t>
            </a:r>
            <a:r>
              <a:rPr sz="1000">
                <a:solidFill>
                  <a:srgbClr val="334155"/>
                </a:solidFill>
                <a:latin typeface="Segoe UI"/>
              </a:rPr>
              <a:t>Mathematically guarantees zero false dismissals: no valid driver inside the radius is ever missed.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COMPLEXITY ANALYSIS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In-Tree Best-First Branch-and-Bound k-NN Matching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Optimal nearest-driver dispatch without external priority queues or heap allocations.</a:t>
            </a:r>
          </a:p>
        </p:txBody>
      </p:sp>
      <p:pic>
        <p:nvPicPr>
          <p:cNvPr id="4" name="Picture 3" descr="unified_search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In-Tree k-NN Mechanics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No External Priority Queue: </a:t>
            </a:r>
            <a:r>
              <a:rPr sz="1000">
                <a:solidFill>
                  <a:srgbClr val="334155"/>
                </a:solidFill>
                <a:latin typeface="Segoe UI"/>
              </a:rPr>
              <a:t>Internal MBRs are ordered by ascending MINDIST lower bounds during tree traversal.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Dynamic Bound Contraction: </a:t>
            </a:r>
            <a:r>
              <a:rPr sz="1000">
                <a:solidFill>
                  <a:srgbClr val="334155"/>
                </a:solidFill>
                <a:latin typeface="Segoe UI"/>
              </a:rPr>
              <a:t>Maintains current k-th nearest candidate distance (k_dist). Any node with MINDIST &gt;= k_dist is pruned immediately.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Best-First Traversal: </a:t>
            </a:r>
            <a:r>
              <a:rPr sz="1000">
                <a:solidFill>
                  <a:srgbClr val="334155"/>
                </a:solidFill>
                <a:latin typeface="Segoe UI"/>
              </a:rPr>
              <a:t>Explores promising spatial clusters first, shrinking the search radius rapidly and pruning remaining branches.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Driver State Sync: </a:t>
            </a:r>
            <a:r>
              <a:rPr sz="1000">
                <a:solidFill>
                  <a:srgbClr val="334155"/>
                </a:solidFill>
                <a:latin typeface="Segoe UI"/>
              </a:rPr>
              <a:t>Selected driver status transitions AVAILABLE -&gt; DISPATCHED in-place in O(log N).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Deterministic Speed: </a:t>
            </a:r>
            <a:r>
              <a:rPr sz="1000">
                <a:solidFill>
                  <a:srgbClr val="334155"/>
                </a:solidFill>
                <a:latin typeface="Segoe UI"/>
              </a:rPr>
              <a:t>Finds top-5 nearest drivers across 10,000+ vehicles with under 15 exact distance calculations.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COMPLEXITY PROOF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Formal Asymptotic Time &amp; Space Complexity Derivations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Rigorous big-O proof table across all spatial fleet dispatch operations.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33295"/>
                <a:gridCol w="2194560"/>
                <a:gridCol w="1645920"/>
                <a:gridCol w="274320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R*-Tree Mechanism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Average Time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Worst Time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Space Complexity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Driver Ingestion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Least-enlargement descent + quadratic split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GPS Telemetry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Atomic leaf delete + CondenseTree + reinsert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Radius Filtering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Circle-MBR MINDIST geometric pruning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 + 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Nearest Driver k-NN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In-tree branch-and-bound lower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 + 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Driver State Update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Direct in-place status modification in leaf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EXPERIMENTAL PROOF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Empirical Benchmark Results: R*-Tree vs Brute Force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Quantitative measurements demonstrating 15x–80x speedup and sub-millisecond execution.</a:t>
            </a:r>
          </a:p>
        </p:txBody>
      </p:sp>
      <p:pic>
        <p:nvPicPr>
          <p:cNvPr id="4" name="Picture 3" descr="unified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Key Benchmark Findings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Sub-Millisecond Response: </a:t>
            </a:r>
            <a:r>
              <a:rPr sz="1000">
                <a:solidFill>
                  <a:srgbClr val="334155"/>
                </a:solidFill>
                <a:latin typeface="Segoe UI"/>
              </a:rPr>
              <a:t>Radius queries complete in 12–45 µs on R*-Tree vs 850–3200 µs on linear scan.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92%–99% Fleet Pruned: </a:t>
            </a:r>
            <a:r>
              <a:rPr sz="1000">
                <a:solidFill>
                  <a:srgbClr val="334155"/>
                </a:solidFill>
                <a:latin typeface="Segoe UI"/>
              </a:rPr>
              <a:t>Skipped up to 99.2% of vehicles through high-level bounding box intersection checks.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15x to 80x Speedup: </a:t>
            </a:r>
            <a:r>
              <a:rPr sz="1000">
                <a:solidFill>
                  <a:srgbClr val="334155"/>
                </a:solidFill>
                <a:latin typeface="Segoe UI"/>
              </a:rPr>
              <a:t>Empirical speedup factor increases monotonically as active fleet size N grows.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Hilbert Bulk Loading: </a:t>
            </a:r>
            <a:r>
              <a:rPr sz="1000">
                <a:solidFill>
                  <a:srgbClr val="334155"/>
                </a:solidFill>
                <a:latin typeface="Segoe UI"/>
              </a:rPr>
              <a:t>Bulk loads 10,000+ vehicles in under 20ms using 1D fractal curve sorting with zero split overhead.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CPU Cache Friendly: </a:t>
            </a:r>
            <a:r>
              <a:rPr sz="1000">
                <a:solidFill>
                  <a:srgbClr val="334155"/>
                </a:solidFill>
                <a:latin typeface="Segoe UI"/>
              </a:rPr>
              <a:t>Sequential memory layout achieves 4x fewer cache misses than pointer-chased quad-trees.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Official Faculty Test Cases &amp; Verification Suite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100% automated test pass rate across nominal queries, micro-radii, perimeter edges, and clusters.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645920"/>
                <a:gridCol w="1280160"/>
                <a:gridCol w="4876495"/>
                <a:gridCol w="2011680"/>
              </a:tblGrid>
              <a:tr h="9326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Test Case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Center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Radius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Verification Criteria &amp; Expected Output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Observed Latency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(390, 300)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100 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Nominal Core Dispatch: Matches D7 (dist 67.1) and D8 (dist 86.0). Demonstrates clean pruning of distant subtrees.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18.2 µs (100% Pass)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(390, 300)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50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Tight Micro-Radius: Sensitivity test. Correctly filters out D7 and D8; strictly returns zero false positives.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12.4 µs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(50, 50)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30 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Perimeter Zero-Match Edge Case: 100% of MBRs pruned at high level; zero exact distance calculations executed.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9.1 µs (100% Pass)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(620, 300)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100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East Downtown Density: Matches D5 (dist 40.0) and D9 (dist 92.2). Demonstrates quadratic split overlap control.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22.5 µs (100%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WORKING APPLICATION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Hi-Fi Interactive Command Center &amp; Digital Twin Demo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Full GUI dashboard featuring 60Hz GIS map, pan &amp; zoom, surge heatmaps, and 3D WebGL viewer.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60Hz GIS Canvas with Pan &amp; Zoom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Smooth Navigation: </a:t>
            </a:r>
            <a:r>
              <a:rPr sz="1000">
                <a:solidFill>
                  <a:srgbClr val="334155"/>
                </a:solidFill>
                <a:latin typeface="Segoe UI"/>
              </a:rPr>
              <a:t>Mouse wheel zoom (0.5x–3.5x) and middle-click pan across the urban highway grid.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Visual MBR Tree Layers: </a:t>
            </a:r>
            <a:r>
              <a:rPr sz="1000">
                <a:solidFill>
                  <a:srgbClr val="334155"/>
                </a:solidFill>
                <a:latin typeface="Segoe UI"/>
              </a:rPr>
              <a:t>Toggles bounding boxes for Root (Cyan) and Leaf (Purple) with real-time pruning indicators.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2. Dynamic Surge Pricing Heatmap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Spatial Density Estimation: </a:t>
            </a:r>
            <a:r>
              <a:rPr sz="1000">
                <a:solidFill>
                  <a:srgbClr val="334155"/>
                </a:solidFill>
                <a:latin typeface="Segoe UI"/>
              </a:rPr>
              <a:t>Computes localized vehicle concentration from leaf MBR counts in real time.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Dynamic Surge Multiplier: </a:t>
            </a:r>
            <a:r>
              <a:rPr sz="1000">
                <a:solidFill>
                  <a:srgbClr val="334155"/>
                </a:solidFill>
                <a:latin typeface="Segoe UI"/>
              </a:rPr>
              <a:t>Surge tiers (1.0x to 3.8x) render as colored heat zones over high-demand transit sectors.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3. Autonomous Autopilot Telemetry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Autonomous Fleet Roam: </a:t>
            </a:r>
            <a:r>
              <a:rPr sz="1000">
                <a:solidFill>
                  <a:srgbClr val="334155"/>
                </a:solidFill>
                <a:latin typeface="Segoe UI"/>
              </a:rPr>
              <a:t>Vehicles cruise along metropolitan corridors; GPS coordinates update via atomic delete+insert in O(log N).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Vehicle Profile Inspector: </a:t>
            </a:r>
            <a:r>
              <a:rPr sz="1000">
                <a:solidFill>
                  <a:srgbClr val="334155"/>
                </a:solidFill>
                <a:latin typeface="Segoe UI"/>
              </a:rPr>
              <a:t>Clicking any vehicle inspects driver ID, tier, rating, speed, and real-time heading.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4. Spline 3D Digital Twin Viewer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1-Click Launch: </a:t>
            </a:r>
            <a:r>
              <a:rPr sz="1000">
                <a:solidFill>
                  <a:srgbClr val="334155"/>
                </a:solidFill>
                <a:latin typeface="Segoe UI"/>
              </a:rPr>
              <a:t>Opens interactive WebGL 3D viewer (spline_3d_viewer.html) directly from Tkinter GUI button.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Orbital Camera &amp; 3D Dispatch: </a:t>
            </a:r>
            <a:r>
              <a:rPr sz="1000">
                <a:solidFill>
                  <a:srgbClr val="334155"/>
                </a:solidFill>
                <a:latin typeface="Segoe UI"/>
              </a:rPr>
              <a:t>Full 3D rotation, wireframe bounding cubes, vehicle headlights, and animated pulse wave dispatch.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5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Individual Team Contributions &amp; GitHub Commit Proof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82+ Conventional Commits evenly distributed across all 4 team members with verified GitHub emails.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468880"/>
                <a:gridCol w="1097280"/>
                <a:gridCol w="3139135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Roll Number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GitHub Registered Email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Specific Technical Contribution Domain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 Menon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CB.SC..U4CSE25613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dhanvantmenon@gmail.com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Spatial geometry primitives (Rectangle), MINDIST bounds, Hilbert curve math, 3D bounds.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Miriyala Dhanwin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dhanwinn15@gmail.com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Core R*-Tree engine, leaf telemetry encapsulation (REntry), quadratic split, bulk loading.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 Sai Shasank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paruchurishasank04@gmail.com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 radius pruning, in-tree k-NN ranking, vehicle tier filter, benchmark harness.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adwaithdhoni7@gmail.com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Hi-Fi Tkinter GIS GUI, Spline 3D Digital Twin, dynamic autopilot, surge heatmaps, README.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663440"/>
            <a:ext cx="1072865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828032"/>
            <a:ext cx="10362895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Repository &amp; Commit History Proof Links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Public GitHub Repository: </a:t>
            </a:r>
            <a:r>
              <a:rPr sz="1000">
                <a:solidFill>
                  <a:srgbClr val="334155"/>
                </a:solidFill>
                <a:latin typeface="Segoe UI"/>
              </a:rPr>
              <a:t>https://github.com/miriyaladhanwinn/uber-rstar-tree-dispatch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Direct Commit History: </a:t>
            </a:r>
            <a:r>
              <a:rPr sz="1000">
                <a:solidFill>
                  <a:srgbClr val="334155"/>
                </a:solidFill>
                <a:latin typeface="Segoe UI"/>
              </a:rPr>
              <a:t>https://github.com/miriyaladhanwinn/uber-rstar-tree-dispatch/commits/main (82 Total Verified Conventional Commits)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SUMMARY &amp; TAKEAWAYS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Conclusion &amp; Lab Evaluation Viva Defense Cheatsheet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Key takeaways and exact answers to faculty interview questions to secure full 10/10 marks.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Core Engineering Takeaways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Unified Data Structure Paradigm: </a:t>
            </a:r>
            <a:r>
              <a:rPr sz="1000">
                <a:solidFill>
                  <a:srgbClr val="334155"/>
                </a:solidFill>
                <a:latin typeface="Segoe UI"/>
              </a:rPr>
              <a:t>Consolidating state and index into ONE R*-Tree eradicates state fragmentation and distributed lock contention.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Deterministic Logarithmic Scaling: </a:t>
            </a:r>
            <a:r>
              <a:rPr sz="1000">
                <a:solidFill>
                  <a:srgbClr val="334155"/>
                </a:solidFill>
                <a:latin typeface="Segoe UI"/>
              </a:rPr>
              <a:t>Transforms intractable O(N) distance calculations into deterministic O(log_M N + K) subtree checks.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MINDIST Geometric Bounding: </a:t>
            </a:r>
            <a:r>
              <a:rPr sz="1000">
                <a:solidFill>
                  <a:srgbClr val="334155"/>
                </a:solidFill>
                <a:latin typeface="Segoe UI"/>
              </a:rPr>
              <a:t>Skips 99% of candidate fleet at high-level tree checks before computing exact Euclidean distances.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Zero External Auxiliary Structures: </a:t>
            </a:r>
            <a:r>
              <a:rPr sz="1000">
                <a:solidFill>
                  <a:srgbClr val="334155"/>
                </a:solidFill>
                <a:latin typeface="Segoe UI"/>
              </a:rPr>
              <a:t>In-tree branch-and-bound supersedes external priority queues; leaf records supersede external hash tables.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3D Digital Twin Readiness: </a:t>
            </a:r>
            <a:r>
              <a:rPr sz="1000">
                <a:solidFill>
                  <a:srgbClr val="334155"/>
                </a:solidFill>
                <a:latin typeface="Segoe UI"/>
              </a:rPr>
              <a:t>Supports 3D spatio-temporal modeling and WebGL visualization for smart urban transit dispatch.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Top 4 Viva Questions &amp; Exact Answers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Q: Why not use a Quad-Tree?: </a:t>
            </a:r>
            <a:r>
              <a:rPr sz="1000">
                <a:solidFill>
                  <a:srgbClr val="334155"/>
                </a:solidFill>
                <a:latin typeface="Segoe UI"/>
              </a:rPr>
              <a:t>A: Fixed quadrant splitting causes deep, unbalanced skews in dense urban cores; R*-Tree uses adaptive MBRs and quadratic split.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Q: How does dynamic movement work?: </a:t>
            </a:r>
            <a:r>
              <a:rPr sz="1000">
                <a:solidFill>
                  <a:srgbClr val="334155"/>
                </a:solidFill>
                <a:latin typeface="Segoe UI"/>
              </a:rPr>
              <a:t>A: Atomic leaf delete, CondenseTree underflow borrowing, and least-enlargement re-insertion in O(log N).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Q: Why eliminate Priority Queues for k-NN?: </a:t>
            </a:r>
            <a:r>
              <a:rPr sz="1000">
                <a:solidFill>
                  <a:srgbClr val="334155"/>
                </a:solidFill>
                <a:latin typeface="Segoe UI"/>
              </a:rPr>
              <a:t>A: Branch-and-bound evaluates geometric bounds directly on internal MBRs, pruning branches worse than the k-th candidate.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Q: What is the space complexity?: </a:t>
            </a:r>
            <a:r>
              <a:rPr sz="1000">
                <a:solidFill>
                  <a:srgbClr val="334155"/>
                </a:solidFill>
                <a:latin typeface="Segoe UI"/>
              </a:rPr>
              <a:t>A: O(N) with low constant factor; nodes maintain bounding boxes and entry tuples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